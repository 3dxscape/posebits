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9" r:id="rId17"/>
    <p:sldId id="280" r:id="rId18"/>
    <p:sldId id="281" r:id="rId19"/>
    <p:sldId id="282" r:id="rId20"/>
    <p:sldId id="283" r:id="rId21"/>
    <p:sldId id="284" r:id="rId22"/>
    <p:sldId id="271" r:id="rId23"/>
    <p:sldId id="272" r:id="rId24"/>
    <p:sldId id="273" r:id="rId25"/>
    <p:sldId id="274" r:id="rId26"/>
    <p:sldId id="275" r:id="rId27"/>
    <p:sldId id="276" r:id="rId28"/>
    <p:sldId id="277" r:id="rId29"/>
    <p:sldId id="278" r:id="rId3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029">
          <p15:clr>
            <a:srgbClr val="747775"/>
          </p15:clr>
        </p15:guide>
        <p15:guide id="2" pos="292">
          <p15:clr>
            <a:srgbClr val="747775"/>
          </p15:clr>
        </p15:guide>
        <p15:guide id="3" orient="horz" pos="2880">
          <p15:clr>
            <a:srgbClr val="747775"/>
          </p15:clr>
        </p15:guide>
        <p15:guide id="4" pos="5472">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9" d="100"/>
          <a:sy n="109" d="100"/>
        </p:scale>
        <p:origin x="706" y="302"/>
      </p:cViewPr>
      <p:guideLst>
        <p:guide orient="horz" pos="1029"/>
        <p:guide pos="292"/>
        <p:guide orient="horz" pos="2880"/>
        <p:guide pos="547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
        <p:cNvGrpSpPr/>
        <p:nvPr/>
      </p:nvGrpSpPr>
      <p:grpSpPr>
        <a:xfrm>
          <a:off x="0" y="0"/>
          <a:ext cx="0" cy="0"/>
          <a:chOff x="0" y="0"/>
          <a:chExt cx="0" cy="0"/>
        </a:xfrm>
      </p:grpSpPr>
      <p:sp>
        <p:nvSpPr>
          <p:cNvPr id="54" name="Google Shape;54;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 name="Google Shape;55;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37711456c3a_0_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7711456c3a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7ec9a311ae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7ec9a311ae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378ebe7161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378ebe7161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3489ac4282a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3489ac4282a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378ebe71614_0_8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378ebe71614_0_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378ebe71614_0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378ebe71614_0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378ebe71614_0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g378ebe71614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78ebe71614_0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78ebe71614_0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78ebe71614_0_1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78ebe71614_0_1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78ebe71614_0_1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378ebe71614_0_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78ebe71614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78ebe71614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78ebe71614_0_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378ebe71614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78ebe71614_0_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378ebe71614_0_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78ebe71614_0_1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 name="Google Shape;160;g378ebe71614_0_1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2429B551-DCCF-2F82-BA54-31B994FE7E11}"/>
            </a:ext>
          </a:extLst>
        </p:cNvPr>
        <p:cNvGrpSpPr/>
        <p:nvPr/>
      </p:nvGrpSpPr>
      <p:grpSpPr>
        <a:xfrm>
          <a:off x="0" y="0"/>
          <a:ext cx="0" cy="0"/>
          <a:chOff x="0" y="0"/>
          <a:chExt cx="0" cy="0"/>
        </a:xfrm>
      </p:grpSpPr>
      <p:sp>
        <p:nvSpPr>
          <p:cNvPr id="122" name="Google Shape;122;g378ebe71614_0_121:notes">
            <a:extLst>
              <a:ext uri="{FF2B5EF4-FFF2-40B4-BE49-F238E27FC236}">
                <a16:creationId xmlns:a16="http://schemas.microsoft.com/office/drawing/2014/main" id="{196618A2-DEF0-F321-D19A-A342040DDD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78ebe71614_0_121:notes">
            <a:extLst>
              <a:ext uri="{FF2B5EF4-FFF2-40B4-BE49-F238E27FC236}">
                <a16:creationId xmlns:a16="http://schemas.microsoft.com/office/drawing/2014/main" id="{D720DD1F-BC9C-F9D4-D5E6-826F24CB7E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860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76A94DEE-2AFE-8000-68FE-B9B387C72CE4}"/>
            </a:ext>
          </a:extLst>
        </p:cNvPr>
        <p:cNvGrpSpPr/>
        <p:nvPr/>
      </p:nvGrpSpPr>
      <p:grpSpPr>
        <a:xfrm>
          <a:off x="0" y="0"/>
          <a:ext cx="0" cy="0"/>
          <a:chOff x="0" y="0"/>
          <a:chExt cx="0" cy="0"/>
        </a:xfrm>
      </p:grpSpPr>
      <p:sp>
        <p:nvSpPr>
          <p:cNvPr id="122" name="Google Shape;122;g378ebe71614_0_121:notes">
            <a:extLst>
              <a:ext uri="{FF2B5EF4-FFF2-40B4-BE49-F238E27FC236}">
                <a16:creationId xmlns:a16="http://schemas.microsoft.com/office/drawing/2014/main" id="{CA2E6D63-69FB-F094-63C7-D0C4065BF7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78ebe71614_0_121:notes">
            <a:extLst>
              <a:ext uri="{FF2B5EF4-FFF2-40B4-BE49-F238E27FC236}">
                <a16:creationId xmlns:a16="http://schemas.microsoft.com/office/drawing/2014/main" id="{AD9BB230-703A-3C0A-38EC-CD06648B64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792661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19EDB657-6822-77A0-4628-A8999FC41111}"/>
            </a:ext>
          </a:extLst>
        </p:cNvPr>
        <p:cNvGrpSpPr/>
        <p:nvPr/>
      </p:nvGrpSpPr>
      <p:grpSpPr>
        <a:xfrm>
          <a:off x="0" y="0"/>
          <a:ext cx="0" cy="0"/>
          <a:chOff x="0" y="0"/>
          <a:chExt cx="0" cy="0"/>
        </a:xfrm>
      </p:grpSpPr>
      <p:sp>
        <p:nvSpPr>
          <p:cNvPr id="122" name="Google Shape;122;g378ebe71614_0_121:notes">
            <a:extLst>
              <a:ext uri="{FF2B5EF4-FFF2-40B4-BE49-F238E27FC236}">
                <a16:creationId xmlns:a16="http://schemas.microsoft.com/office/drawing/2014/main" id="{513A0797-9A6A-10E0-3F4E-0D8674E3831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78ebe71614_0_121:notes">
            <a:extLst>
              <a:ext uri="{FF2B5EF4-FFF2-40B4-BE49-F238E27FC236}">
                <a16:creationId xmlns:a16="http://schemas.microsoft.com/office/drawing/2014/main" id="{8C75DCD1-22CD-ADA5-CBEA-A9041EDC968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4724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2DDA3A35-8D56-51BD-7F37-CB6531CAC5CC}"/>
            </a:ext>
          </a:extLst>
        </p:cNvPr>
        <p:cNvGrpSpPr/>
        <p:nvPr/>
      </p:nvGrpSpPr>
      <p:grpSpPr>
        <a:xfrm>
          <a:off x="0" y="0"/>
          <a:ext cx="0" cy="0"/>
          <a:chOff x="0" y="0"/>
          <a:chExt cx="0" cy="0"/>
        </a:xfrm>
      </p:grpSpPr>
      <p:sp>
        <p:nvSpPr>
          <p:cNvPr id="122" name="Google Shape;122;g378ebe71614_0_121:notes">
            <a:extLst>
              <a:ext uri="{FF2B5EF4-FFF2-40B4-BE49-F238E27FC236}">
                <a16:creationId xmlns:a16="http://schemas.microsoft.com/office/drawing/2014/main" id="{7DCE7D48-35E9-23D3-31F2-4A5693C87BB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78ebe71614_0_121:notes">
            <a:extLst>
              <a:ext uri="{FF2B5EF4-FFF2-40B4-BE49-F238E27FC236}">
                <a16:creationId xmlns:a16="http://schemas.microsoft.com/office/drawing/2014/main" id="{8A8D1A06-4143-CCEA-5053-6A3A9C59658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564937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FB3D38E5-1258-432F-7EFB-0989E6A6E6BD}"/>
            </a:ext>
          </a:extLst>
        </p:cNvPr>
        <p:cNvGrpSpPr/>
        <p:nvPr/>
      </p:nvGrpSpPr>
      <p:grpSpPr>
        <a:xfrm>
          <a:off x="0" y="0"/>
          <a:ext cx="0" cy="0"/>
          <a:chOff x="0" y="0"/>
          <a:chExt cx="0" cy="0"/>
        </a:xfrm>
      </p:grpSpPr>
      <p:sp>
        <p:nvSpPr>
          <p:cNvPr id="122" name="Google Shape;122;g378ebe71614_0_121:notes">
            <a:extLst>
              <a:ext uri="{FF2B5EF4-FFF2-40B4-BE49-F238E27FC236}">
                <a16:creationId xmlns:a16="http://schemas.microsoft.com/office/drawing/2014/main" id="{0ABA3AA9-8998-4E4B-3DA1-9A1D6A4A51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78ebe71614_0_121:notes">
            <a:extLst>
              <a:ext uri="{FF2B5EF4-FFF2-40B4-BE49-F238E27FC236}">
                <a16:creationId xmlns:a16="http://schemas.microsoft.com/office/drawing/2014/main" id="{7B06EB17-1897-82A4-54E2-5A387041B2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5026356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A328B1CA-F73D-A250-AB58-CA1D62781E86}"/>
            </a:ext>
          </a:extLst>
        </p:cNvPr>
        <p:cNvGrpSpPr/>
        <p:nvPr/>
      </p:nvGrpSpPr>
      <p:grpSpPr>
        <a:xfrm>
          <a:off x="0" y="0"/>
          <a:ext cx="0" cy="0"/>
          <a:chOff x="0" y="0"/>
          <a:chExt cx="0" cy="0"/>
        </a:xfrm>
      </p:grpSpPr>
      <p:sp>
        <p:nvSpPr>
          <p:cNvPr id="122" name="Google Shape;122;g378ebe71614_0_121:notes">
            <a:extLst>
              <a:ext uri="{FF2B5EF4-FFF2-40B4-BE49-F238E27FC236}">
                <a16:creationId xmlns:a16="http://schemas.microsoft.com/office/drawing/2014/main" id="{2AFE1ECC-5160-E798-529B-7A7E2DB411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78ebe71614_0_121:notes">
            <a:extLst>
              <a:ext uri="{FF2B5EF4-FFF2-40B4-BE49-F238E27FC236}">
                <a16:creationId xmlns:a16="http://schemas.microsoft.com/office/drawing/2014/main" id="{E99523AC-88AC-5668-4353-47584CA06A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070324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78ebe71614_0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 name="Google Shape;167;g378ebe71614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78ebe71614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378ebe71614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g378ebe71614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 name="Google Shape;185;g378ebe71614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78ebe71614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378ebe7161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378ebe71614_0_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378ebe7161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78ebe71614_0_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378ebe71614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78ebe71614_0_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g378ebe71614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378ebe71614_0_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 name="Google Shape;215;g378ebe71614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2"/>
        <p:cNvGrpSpPr/>
        <p:nvPr/>
      </p:nvGrpSpPr>
      <p:grpSpPr>
        <a:xfrm>
          <a:off x="0" y="0"/>
          <a:ext cx="0" cy="0"/>
          <a:chOff x="0" y="0"/>
          <a:chExt cx="0" cy="0"/>
        </a:xfrm>
      </p:grpSpPr>
      <p:sp>
        <p:nvSpPr>
          <p:cNvPr id="13" name="Google Shape;13;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4" name="Google Shape;14;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5" name="Google Shape;15;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1" name="Google Shape;21;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2" name="Google Shape;22;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3"/>
        <p:cNvGrpSpPr/>
        <p:nvPr/>
      </p:nvGrpSpPr>
      <p:grpSpPr>
        <a:xfrm>
          <a:off x="0" y="0"/>
          <a:ext cx="0" cy="0"/>
          <a:chOff x="0" y="0"/>
          <a:chExt cx="0" cy="0"/>
        </a:xfrm>
      </p:grpSpPr>
      <p:sp>
        <p:nvSpPr>
          <p:cNvPr id="24" name="Google Shape;24;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5" name="Google Shape;25;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6" name="Google Shape;26;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7" name="Google Shape;27;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8"/>
        <p:cNvGrpSpPr/>
        <p:nvPr/>
      </p:nvGrpSpPr>
      <p:grpSpPr>
        <a:xfrm>
          <a:off x="0" y="0"/>
          <a:ext cx="0" cy="0"/>
          <a:chOff x="0" y="0"/>
          <a:chExt cx="0" cy="0"/>
        </a:xfrm>
      </p:grpSpPr>
      <p:sp>
        <p:nvSpPr>
          <p:cNvPr id="29" name="Google Shape;29;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0" name="Google Shape;30;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1"/>
        <p:cNvGrpSpPr/>
        <p:nvPr/>
      </p:nvGrpSpPr>
      <p:grpSpPr>
        <a:xfrm>
          <a:off x="0" y="0"/>
          <a:ext cx="0" cy="0"/>
          <a:chOff x="0" y="0"/>
          <a:chExt cx="0" cy="0"/>
        </a:xfrm>
      </p:grpSpPr>
      <p:sp>
        <p:nvSpPr>
          <p:cNvPr id="32" name="Google Shape;32;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3" name="Google Shape;33;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7" name="Google Shape;37;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8"/>
        <p:cNvGrpSpPr/>
        <p:nvPr/>
      </p:nvGrpSpPr>
      <p:grpSpPr>
        <a:xfrm>
          <a:off x="0" y="0"/>
          <a:ext cx="0" cy="0"/>
          <a:chOff x="0" y="0"/>
          <a:chExt cx="0" cy="0"/>
        </a:xfrm>
      </p:grpSpPr>
      <p:sp>
        <p:nvSpPr>
          <p:cNvPr id="39" name="Google Shape;39;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1" name="Google Shape;41;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2" name="Google Shape;42;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3" name="Google Shape;4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4"/>
        <p:cNvGrpSpPr/>
        <p:nvPr/>
      </p:nvGrpSpPr>
      <p:grpSpPr>
        <a:xfrm>
          <a:off x="0" y="0"/>
          <a:ext cx="0" cy="0"/>
          <a:chOff x="0" y="0"/>
          <a:chExt cx="0" cy="0"/>
        </a:xfrm>
      </p:grpSpPr>
      <p:sp>
        <p:nvSpPr>
          <p:cNvPr id="45" name="Google Shape;45;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6" name="Google Shape;46;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7"/>
        <p:cNvGrpSpPr/>
        <p:nvPr/>
      </p:nvGrpSpPr>
      <p:grpSpPr>
        <a:xfrm>
          <a:off x="0" y="0"/>
          <a:ext cx="0" cy="0"/>
          <a:chOff x="0" y="0"/>
          <a:chExt cx="0" cy="0"/>
        </a:xfrm>
      </p:grpSpPr>
      <p:sp>
        <p:nvSpPr>
          <p:cNvPr id="48" name="Google Shape;48;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9" name="Google Shape;49;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0" name="Google Shape;50;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1"/>
        <p:cNvGrpSpPr/>
        <p:nvPr/>
      </p:nvGrpSpPr>
      <p:grpSpPr>
        <a:xfrm>
          <a:off x="0" y="0"/>
          <a:ext cx="0" cy="0"/>
          <a:chOff x="0" y="0"/>
          <a:chExt cx="0" cy="0"/>
        </a:xfrm>
      </p:grpSpPr>
      <p:sp>
        <p:nvSpPr>
          <p:cNvPr id="52" name="Google Shape;52;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hyperlink" Target="https://creativecommons.org/licenses/by/4.0/"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title="logo_osp_2021_h.png"/>
          <p:cNvPicPr preferRelativeResize="0"/>
          <p:nvPr/>
        </p:nvPicPr>
        <p:blipFill>
          <a:blip r:embed="rId13">
            <a:alphaModFix/>
          </a:blip>
          <a:stretch>
            <a:fillRect/>
          </a:stretch>
        </p:blipFill>
        <p:spPr>
          <a:xfrm>
            <a:off x="8472450" y="4731913"/>
            <a:ext cx="256225" cy="256225"/>
          </a:xfrm>
          <a:prstGeom prst="rect">
            <a:avLst/>
          </a:prstGeom>
          <a:noFill/>
          <a:ln>
            <a:noFill/>
          </a:ln>
        </p:spPr>
      </p:pic>
      <p:sp>
        <p:nvSpPr>
          <p:cNvPr id="10" name="Google Shape;10;p1"/>
          <p:cNvSpPr txBox="1"/>
          <p:nvPr/>
        </p:nvSpPr>
        <p:spPr>
          <a:xfrm>
            <a:off x="3911800" y="4703625"/>
            <a:ext cx="4987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chemeClr val="dk2"/>
                </a:solidFill>
              </a:rPr>
              <a:t>8.04 2025.09.13.01     Copyright © 2025 MobileGIS Ltd - Licence </a:t>
            </a:r>
            <a:r>
              <a:rPr lang="en" sz="1000" u="sng">
                <a:solidFill>
                  <a:schemeClr val="hlink"/>
                </a:solidFill>
                <a:hlinkClick r:id="rId14"/>
              </a:rPr>
              <a:t>CC-BY 4.0</a:t>
            </a:r>
            <a:r>
              <a:rPr lang="en" sz="1000">
                <a:solidFill>
                  <a:schemeClr val="dk2"/>
                </a:solidFill>
              </a:rPr>
              <a:t> </a:t>
            </a:r>
            <a:endParaRPr sz="1000">
              <a:solidFill>
                <a:schemeClr val="dk2"/>
              </a:solidFill>
            </a:endParaRPr>
          </a:p>
        </p:txBody>
      </p:sp>
      <p:sp>
        <p:nvSpPr>
          <p:cNvPr id="11" name="Google Shape;11;p1"/>
          <p:cNvSpPr txBox="1"/>
          <p:nvPr/>
        </p:nvSpPr>
        <p:spPr>
          <a:xfrm>
            <a:off x="469600" y="4515525"/>
            <a:ext cx="344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00" b="1">
              <a:solidFill>
                <a:srgbClr val="FF0000"/>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8" Type="http://schemas.openxmlformats.org/officeDocument/2006/relationships/hyperlink" Target="https://www.sciencedirect.com/science/article/pii/S0169534719300199?utm_source=chatgpt.com" TargetMode="External"/><Relationship Id="rId13" Type="http://schemas.openxmlformats.org/officeDocument/2006/relationships/hyperlink" Target="https://link.springer.com/article/10.1007/s00265-006-0172-6?utm_source=chatgpt.com" TargetMode="External"/><Relationship Id="rId3" Type="http://schemas.openxmlformats.org/officeDocument/2006/relationships/hyperlink" Target="https://gambusia.zo.ncsu.edu/readings/Lima%20and%20Dill%201990.pdf?utm_source=chatgpt.com" TargetMode="External"/><Relationship Id="rId7" Type="http://schemas.openxmlformats.org/officeDocument/2006/relationships/hyperlink" Target="https://www.predatordefense.org/agencies/docs/research_LandscapeOfFear_Laundre_2010.pdf?utm_source=chatgpt.com" TargetMode="External"/><Relationship Id="rId12" Type="http://schemas.openxmlformats.org/officeDocument/2006/relationships/hyperlink" Target="https://onlinelibrary.wiley.com/doi/pdf/10.1111/j.1461-0248.2004.00661.x?utm_source=chatgpt.com"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hyperlink" Target="https://www.jstor.org/stable/pdf/10.1086/657437.pdf?addFooter=false&amp;utm_source=chatgpt.com" TargetMode="External"/><Relationship Id="rId11" Type="http://schemas.openxmlformats.org/officeDocument/2006/relationships/hyperlink" Target="https://books.google.com/books/about/Foraging_Theory.html?id=DVxvu-qDsaIC&amp;utm_source=chatgpt.com" TargetMode="External"/><Relationship Id="rId5" Type="http://schemas.openxmlformats.org/officeDocument/2006/relationships/hyperlink" Target="https://www.sciencedirect.com/science/article/pii/S0003347209002759?utm_source=chatgpt.com" TargetMode="External"/><Relationship Id="rId10" Type="http://schemas.openxmlformats.org/officeDocument/2006/relationships/hyperlink" Target="https://link.springer.com/article/10.1007/BF00395696?utm_source=chatgpt.com" TargetMode="External"/><Relationship Id="rId4" Type="http://schemas.openxmlformats.org/officeDocument/2006/relationships/hyperlink" Target="https://www.cell.com/trends/ecology-evolution/fulltext/S0169-5347%2899%2901766-8?utm_source=chatgpt.com" TargetMode="External"/><Relationship Id="rId9" Type="http://schemas.openxmlformats.org/officeDocument/2006/relationships/hyperlink" Target="https://peerj.com/articles/3772/?utm_source=chatgpt.com" TargetMode="External"/></Relationships>
</file>

<file path=ppt/slides/_rels/slide25.xml.rels><?xml version="1.0" encoding="UTF-8" standalone="yes"?>
<Relationships xmlns="http://schemas.openxmlformats.org/package/2006/relationships"><Relationship Id="rId8" Type="http://schemas.openxmlformats.org/officeDocument/2006/relationships/hyperlink" Target="https://link.springer.com/rwe/10.1007/978-3-319-16999-6_2704-1?utm_source=chatgpt.com" TargetMode="External"/><Relationship Id="rId3" Type="http://schemas.openxmlformats.org/officeDocument/2006/relationships/hyperlink" Target="https://findanexpert.unimelb.edu.au/scholarlywork/1012233-predator-vigilance-and-group-size-in-mammals-and-birds--a-critical-review-of-the-empirical-evidence?utm_source=chatgpt.com" TargetMode="External"/><Relationship Id="rId7" Type="http://schemas.openxmlformats.org/officeDocument/2006/relationships/hyperlink" Target="https://faculty.washington.edu/robinet/vigilance.pdf?utm_source=chatgpt.com"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hyperlink" Target="https://www.sciencedirect.com/science/article/pii/S0376635703000020?utm_source=chatgpt.com" TargetMode="External"/><Relationship Id="rId11" Type="http://schemas.openxmlformats.org/officeDocument/2006/relationships/hyperlink" Target="https://besjournals.onlinelibrary.wiley.com/doi/pdf/10.1046/j.0021-8790.2001.00565.x?utm_source=chatgpt.com" TargetMode="External"/><Relationship Id="rId5" Type="http://schemas.openxmlformats.org/officeDocument/2006/relationships/hyperlink" Target="https://academic.oup.com/beheco/article-abstract/19/6/1361/198609?utm_source=chatgpt.com" TargetMode="External"/><Relationship Id="rId10" Type="http://schemas.openxmlformats.org/officeDocument/2006/relationships/hyperlink" Target="https://www.sciencedirect.com/science/article/pii/S0003347212004770?utm_source=chatgpt.com" TargetMode="External"/><Relationship Id="rId4" Type="http://schemas.openxmlformats.org/officeDocument/2006/relationships/hyperlink" Target="https://www.researchgate.net/profile/Pierre-Yves-Quenette/publication/279938336_Functions_of_vigilance_behavior_in_mammals_a_review/links/5a0c749da6fdcc39e9bf92a4/Functions-of-vigilance-behavior-in-mammals-a-review.pdf?utm_source=chatgpt.com" TargetMode="External"/><Relationship Id="rId9" Type="http://schemas.openxmlformats.org/officeDocument/2006/relationships/hyperlink" Target="https://journals.plos.org/plosone/article?id=10.1371%2Fjournal.pone.0025010&amp;utm_source=chatgpt.com"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www.sciencedirect.com/science/article/pii/S0376635711001999?utm_source=chatgpt.com" TargetMode="External"/><Relationship Id="rId7" Type="http://schemas.openxmlformats.org/officeDocument/2006/relationships/hyperlink" Target="https://etoecoevo.org/cont/publicaciones/etologia/Etologia_vol.2_pp.49-57_%281992%29.pdf?utm_source=chatgpt.com"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hyperlink" Target="https://www.sciencedirect.com/science/article/pii/S0003347210004574?utm_source=chatgpt.com" TargetMode="External"/><Relationship Id="rId5" Type="http://schemas.openxmlformats.org/officeDocument/2006/relationships/hyperlink" Target="https://academic.oup.com/beheco/article-abstract/20/5/936/209567?utm_source=chatgpt.com" TargetMode="External"/><Relationship Id="rId4" Type="http://schemas.openxmlformats.org/officeDocument/2006/relationships/hyperlink" Target="https://www.sciencedirect.com/science/article/pii/S0003347207003508?utm_source=chatgpt.com" TargetMode="External"/></Relationships>
</file>

<file path=ppt/slides/_rels/slide27.xml.rels><?xml version="1.0" encoding="UTF-8" standalone="yes"?>
<Relationships xmlns="http://schemas.openxmlformats.org/package/2006/relationships"><Relationship Id="rId8" Type="http://schemas.openxmlformats.org/officeDocument/2006/relationships/hyperlink" Target="https://www.sciencedirect.com/science/article/pii/S2589004225011186?utm_source=chatgpt.com" TargetMode="External"/><Relationship Id="rId3" Type="http://schemas.openxmlformats.org/officeDocument/2006/relationships/hyperlink" Target="https://www.ece.uvic.ca/~bctill/papers/facerec/Emery2000.pdf?utm_source=chatgpt.com" TargetMode="External"/><Relationship Id="rId7" Type="http://schemas.openxmlformats.org/officeDocument/2006/relationships/hyperlink" Target="https://www.frontiersin.org/journals/psychology/articles/10.3389/fpsyg.2020.604904/full?utm_source=chatgpt.com"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hyperlink" Target="https://www.researchgate.net/profile/Thomas-Bugnyar/publication/6878770_Pilfering_ravens_Corvus_corax_adjust_their_behavior_to_social_context_and_identity_of_competitors/links/5581867508ae1b14a0a0fa8f/Pilfering-ravens-Corvus-corax-adjust-their-behavior-to-social-context-and-identity-of-competitors.pdf?utm_source=chatgpt.com" TargetMode="External"/><Relationship Id="rId5" Type="http://schemas.openxmlformats.org/officeDocument/2006/relationships/hyperlink" Target="https://www.sciencedirect.com/science/article/abs/pii/S000334720700156X?utm_source=chatgpt.com" TargetMode="External"/><Relationship Id="rId4" Type="http://schemas.openxmlformats.org/officeDocument/2006/relationships/hyperlink" Target="https://www.frontiersin.org/journals/integrative-neuroscience/articles/10.3389/fnint.2010.00005/full?utm_source=chatgpt.com" TargetMode="External"/><Relationship Id="rId9" Type="http://schemas.openxmlformats.org/officeDocument/2006/relationships/hyperlink" Target="https://www.sciencedirect.com/science/article/pii/S0003347213004818?utm_source=chatgpt.com"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yorzinskilab.org/wp-content/uploads/2021/02/yorzinskiplatt_2013.pdf?utm_source=chatgpt.com" TargetMode="External"/><Relationship Id="rId7" Type="http://schemas.openxmlformats.org/officeDocument/2006/relationships/hyperlink" Target="https://elifesciences.org/reviewed-preprints/95549v1?utm_source=chatgpt.com" TargetMode="External"/><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hyperlink" Target="https://www.researchgate.net/profile/Jessica-Yorzinski-2/publication/283077962_Eye_and_head_movements_shape_gaze_shifts_in_Indian_peafowl/links/562f771c08aeb2ca69621159/Eye-and-head-movements-shape-gaze-shifts-in-Indian-peafowl.pdf?utm_source=chatgpt.com" TargetMode="External"/><Relationship Id="rId5" Type="http://schemas.openxmlformats.org/officeDocument/2006/relationships/hyperlink" Target="https://patricellilab.faculty.ucdavis.edu/wp-content/uploads/sites/147/2014/12/Yorzinski-et-al-Eyetracking-JExpB-2013.pdf?utm_source=chatgpt.com" TargetMode="External"/><Relationship Id="rId4" Type="http://schemas.openxmlformats.org/officeDocument/2006/relationships/hyperlink" Target="https://journals.biologists.com/jeb/article/216/16/3035/11559/Through-their-eyes-selective-attention-in-peahens?utm_source=chatgpt.com"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docs.ogc.org/is/21-056r11/21-056r11.html?utm_source=chatgpt.com"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hyperlink" Target="https://www.ogc.org/standards/geopose/?utm_source=chatgpt.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6"/>
        <p:cNvGrpSpPr/>
        <p:nvPr/>
      </p:nvGrpSpPr>
      <p:grpSpPr>
        <a:xfrm>
          <a:off x="0" y="0"/>
          <a:ext cx="0" cy="0"/>
          <a:chOff x="0" y="0"/>
          <a:chExt cx="0" cy="0"/>
        </a:xfrm>
      </p:grpSpPr>
      <p:sp>
        <p:nvSpPr>
          <p:cNvPr id="57" name="Google Shape;57;p13"/>
          <p:cNvSpPr txBox="1">
            <a:spLocks noGrp="1"/>
          </p:cNvSpPr>
          <p:nvPr>
            <p:ph type="ctrTitle"/>
          </p:nvPr>
        </p:nvSpPr>
        <p:spPr>
          <a:xfrm>
            <a:off x="463500" y="744575"/>
            <a:ext cx="8223300" cy="927900"/>
          </a:xfrm>
          <a:prstGeom prst="rect">
            <a:avLst/>
          </a:prstGeom>
        </p:spPr>
        <p:txBody>
          <a:bodyPr spcFirstLastPara="1" wrap="square" lIns="91425" tIns="91425" rIns="91425" bIns="91425" anchor="b" anchorCtr="0">
            <a:normAutofit fontScale="90000"/>
          </a:bodyPr>
          <a:lstStyle/>
          <a:p>
            <a:pPr marL="0" lvl="0" indent="0" algn="ctr" rtl="0">
              <a:lnSpc>
                <a:spcPct val="115000"/>
              </a:lnSpc>
              <a:spcBef>
                <a:spcPts val="1200"/>
              </a:spcBef>
              <a:spcAft>
                <a:spcPts val="1200"/>
              </a:spcAft>
              <a:buClr>
                <a:schemeClr val="dk1"/>
              </a:buClr>
              <a:buSzPts val="1100"/>
              <a:buFont typeface="Arial"/>
              <a:buNone/>
            </a:pPr>
            <a:r>
              <a:rPr lang="en" sz="4800">
                <a:latin typeface="Calibri"/>
                <a:ea typeface="Calibri"/>
                <a:cs typeface="Calibri"/>
                <a:sym typeface="Calibri"/>
              </a:rPr>
              <a:t>Attention, the Origin of Pose</a:t>
            </a:r>
            <a:endParaRPr sz="8600">
              <a:latin typeface="Calibri"/>
              <a:ea typeface="Calibri"/>
              <a:cs typeface="Calibri"/>
              <a:sym typeface="Calibri"/>
            </a:endParaRPr>
          </a:p>
        </p:txBody>
      </p:sp>
      <p:sp>
        <p:nvSpPr>
          <p:cNvPr id="58" name="Google Shape;58;p13"/>
          <p:cNvSpPr txBox="1">
            <a:spLocks noGrp="1"/>
          </p:cNvSpPr>
          <p:nvPr>
            <p:ph type="subTitle" idx="1"/>
          </p:nvPr>
        </p:nvSpPr>
        <p:spPr>
          <a:xfrm>
            <a:off x="463500" y="2834125"/>
            <a:ext cx="8223300" cy="792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770"/>
              <a:buNone/>
            </a:pPr>
            <a:r>
              <a:rPr lang="en" sz="2060">
                <a:latin typeface="Calibri"/>
                <a:ea typeface="Calibri"/>
                <a:cs typeface="Calibri"/>
                <a:sym typeface="Calibri"/>
              </a:rPr>
              <a:t>The ability to focus on prey or predator wired our brains for pose. </a:t>
            </a:r>
            <a:endParaRPr sz="2060">
              <a:latin typeface="Calibri"/>
              <a:ea typeface="Calibri"/>
              <a:cs typeface="Calibri"/>
              <a:sym typeface="Calibri"/>
            </a:endParaRPr>
          </a:p>
        </p:txBody>
      </p:sp>
      <p:sp>
        <p:nvSpPr>
          <p:cNvPr id="59" name="Google Shape;59;p13"/>
          <p:cNvSpPr txBox="1"/>
          <p:nvPr/>
        </p:nvSpPr>
        <p:spPr>
          <a:xfrm>
            <a:off x="0" y="0"/>
            <a:ext cx="3000000" cy="801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endParaRPr/>
          </a:p>
          <a:p>
            <a:pPr marL="457200" lvl="0" indent="0" algn="l" rtl="0">
              <a:lnSpc>
                <a:spcPct val="115000"/>
              </a:lnSpc>
              <a:spcBef>
                <a:spcPts val="1200"/>
              </a:spcBef>
              <a:spcAft>
                <a:spcPts val="120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4"/>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TLDR</a:t>
            </a:r>
            <a:endParaRPr>
              <a:latin typeface="Calibri"/>
              <a:ea typeface="Calibri"/>
              <a:cs typeface="Calibri"/>
              <a:sym typeface="Calibri"/>
            </a:endParaRPr>
          </a:p>
        </p:txBody>
      </p:sp>
      <p:pic>
        <p:nvPicPr>
          <p:cNvPr id="65" name="Google Shape;65;p14"/>
          <p:cNvPicPr preferRelativeResize="0"/>
          <p:nvPr/>
        </p:nvPicPr>
        <p:blipFill>
          <a:blip r:embed="rId3">
            <a:alphaModFix/>
          </a:blip>
          <a:stretch>
            <a:fillRect/>
          </a:stretch>
        </p:blipFill>
        <p:spPr>
          <a:xfrm>
            <a:off x="1021849" y="1742625"/>
            <a:ext cx="6925951" cy="1021338"/>
          </a:xfrm>
          <a:prstGeom prst="rect">
            <a:avLst/>
          </a:prstGeom>
          <a:noFill/>
          <a:ln>
            <a:noFill/>
          </a:ln>
        </p:spPr>
      </p:pic>
      <p:pic>
        <p:nvPicPr>
          <p:cNvPr id="66" name="Google Shape;66;p14"/>
          <p:cNvPicPr preferRelativeResize="0"/>
          <p:nvPr/>
        </p:nvPicPr>
        <p:blipFill>
          <a:blip r:embed="rId4">
            <a:alphaModFix/>
          </a:blip>
          <a:stretch>
            <a:fillRect/>
          </a:stretch>
        </p:blipFill>
        <p:spPr>
          <a:xfrm>
            <a:off x="4834100" y="2763975"/>
            <a:ext cx="1095975" cy="1696675"/>
          </a:xfrm>
          <a:prstGeom prst="rect">
            <a:avLst/>
          </a:prstGeom>
          <a:noFill/>
          <a:ln>
            <a:noFill/>
          </a:ln>
        </p:spPr>
      </p:pic>
      <p:pic>
        <p:nvPicPr>
          <p:cNvPr id="67" name="Google Shape;67;p14"/>
          <p:cNvPicPr preferRelativeResize="0"/>
          <p:nvPr/>
        </p:nvPicPr>
        <p:blipFill>
          <a:blip r:embed="rId5">
            <a:alphaModFix/>
          </a:blip>
          <a:stretch>
            <a:fillRect/>
          </a:stretch>
        </p:blipFill>
        <p:spPr>
          <a:xfrm>
            <a:off x="2753038" y="3078600"/>
            <a:ext cx="1853451" cy="1067425"/>
          </a:xfrm>
          <a:prstGeom prst="rect">
            <a:avLst/>
          </a:prstGeom>
          <a:noFill/>
          <a:ln>
            <a:noFill/>
          </a:ln>
        </p:spPr>
      </p:pic>
      <p:pic>
        <p:nvPicPr>
          <p:cNvPr id="68" name="Google Shape;68;p14"/>
          <p:cNvPicPr preferRelativeResize="0"/>
          <p:nvPr/>
        </p:nvPicPr>
        <p:blipFill>
          <a:blip r:embed="rId6">
            <a:alphaModFix/>
          </a:blip>
          <a:stretch>
            <a:fillRect/>
          </a:stretch>
        </p:blipFill>
        <p:spPr>
          <a:xfrm>
            <a:off x="6290975" y="2861487"/>
            <a:ext cx="768446" cy="1501651"/>
          </a:xfrm>
          <a:prstGeom prst="rect">
            <a:avLst/>
          </a:prstGeom>
          <a:noFill/>
          <a:ln>
            <a:noFill/>
          </a:ln>
        </p:spPr>
      </p:pic>
      <p:pic>
        <p:nvPicPr>
          <p:cNvPr id="69" name="Google Shape;69;p14"/>
          <p:cNvPicPr preferRelativeResize="0"/>
          <p:nvPr/>
        </p:nvPicPr>
        <p:blipFill>
          <a:blip r:embed="rId7">
            <a:alphaModFix/>
          </a:blip>
          <a:stretch>
            <a:fillRect/>
          </a:stretch>
        </p:blipFill>
        <p:spPr>
          <a:xfrm>
            <a:off x="7059421" y="2861487"/>
            <a:ext cx="677468" cy="1501650"/>
          </a:xfrm>
          <a:prstGeom prst="rect">
            <a:avLst/>
          </a:prstGeom>
          <a:noFill/>
          <a:ln>
            <a:noFill/>
          </a:ln>
        </p:spPr>
      </p:pic>
      <p:pic>
        <p:nvPicPr>
          <p:cNvPr id="70" name="Google Shape;70;p14"/>
          <p:cNvPicPr preferRelativeResize="0"/>
          <p:nvPr/>
        </p:nvPicPr>
        <p:blipFill>
          <a:blip r:embed="rId8">
            <a:alphaModFix/>
          </a:blip>
          <a:stretch>
            <a:fillRect/>
          </a:stretch>
        </p:blipFill>
        <p:spPr>
          <a:xfrm>
            <a:off x="1285875" y="2736475"/>
            <a:ext cx="1189926" cy="183552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5"/>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Survival</a:t>
            </a:r>
            <a:endParaRPr>
              <a:latin typeface="Calibri"/>
              <a:ea typeface="Calibri"/>
              <a:cs typeface="Calibri"/>
              <a:sym typeface="Calibri"/>
            </a:endParaRPr>
          </a:p>
        </p:txBody>
      </p:sp>
      <p:sp>
        <p:nvSpPr>
          <p:cNvPr id="76" name="Google Shape;76;p15"/>
          <p:cNvSpPr txBox="1">
            <a:spLocks noGrp="1"/>
          </p:cNvSpPr>
          <p:nvPr>
            <p:ph type="subTitle" idx="1"/>
          </p:nvPr>
        </p:nvSpPr>
        <p:spPr>
          <a:xfrm>
            <a:off x="463500" y="1528800"/>
            <a:ext cx="5603400" cy="3043200"/>
          </a:xfrm>
          <a:prstGeom prst="rect">
            <a:avLst/>
          </a:prstGeom>
        </p:spPr>
        <p:txBody>
          <a:bodyPr spcFirstLastPara="1" wrap="square" lIns="91425" tIns="91425" rIns="91425" bIns="91425" anchor="t" anchorCtr="0">
            <a:noAutofit/>
          </a:bodyPr>
          <a:lstStyle/>
          <a:p>
            <a:pPr marL="0" lvl="0" indent="0" algn="l" rtl="0">
              <a:lnSpc>
                <a:spcPct val="80000"/>
              </a:lnSpc>
              <a:spcBef>
                <a:spcPts val="0"/>
              </a:spcBef>
              <a:spcAft>
                <a:spcPts val="0"/>
              </a:spcAft>
              <a:buNone/>
            </a:pPr>
            <a:r>
              <a:rPr lang="en" sz="1900" dirty="0">
                <a:solidFill>
                  <a:srgbClr val="000000"/>
                </a:solidFill>
                <a:latin typeface="Calibri"/>
                <a:ea typeface="Calibri"/>
                <a:cs typeface="Calibri"/>
                <a:sym typeface="Calibri"/>
              </a:rPr>
              <a:t>Many animals use</a:t>
            </a:r>
            <a:r>
              <a:rPr lang="en" sz="1900" dirty="0">
                <a:solidFill>
                  <a:schemeClr val="dk1"/>
                </a:solidFill>
                <a:latin typeface="Calibri"/>
                <a:ea typeface="Calibri"/>
                <a:cs typeface="Calibri"/>
                <a:sym typeface="Calibri"/>
              </a:rPr>
              <a:t> vision</a:t>
            </a:r>
            <a:r>
              <a:rPr lang="en" sz="1900" dirty="0">
                <a:solidFill>
                  <a:srgbClr val="000000"/>
                </a:solidFill>
                <a:latin typeface="Calibri"/>
                <a:ea typeface="Calibri"/>
                <a:cs typeface="Calibri"/>
                <a:sym typeface="Calibri"/>
              </a:rPr>
              <a:t> to help them catch prey, find mates, or defend against danger. The ability to focus enables them to detect, locate, and orient themselves to food or danger. Evolution has wired </a:t>
            </a:r>
            <a:r>
              <a:rPr lang="en" sz="1900" i="1" dirty="0">
                <a:solidFill>
                  <a:srgbClr val="000000"/>
                </a:solidFill>
                <a:latin typeface="Calibri"/>
                <a:ea typeface="Calibri"/>
                <a:cs typeface="Calibri"/>
                <a:sym typeface="Calibri"/>
              </a:rPr>
              <a:t>attention</a:t>
            </a:r>
            <a:r>
              <a:rPr lang="en" sz="1900" dirty="0">
                <a:solidFill>
                  <a:srgbClr val="000000"/>
                </a:solidFill>
                <a:latin typeface="Calibri"/>
                <a:ea typeface="Calibri"/>
                <a:cs typeface="Calibri"/>
                <a:sym typeface="Calibri"/>
              </a:rPr>
              <a:t> into their brains. </a:t>
            </a:r>
            <a:endParaRPr sz="1900" dirty="0">
              <a:solidFill>
                <a:srgbClr val="000000"/>
              </a:solidFill>
              <a:latin typeface="Calibri"/>
              <a:ea typeface="Calibri"/>
              <a:cs typeface="Calibri"/>
              <a:sym typeface="Calibri"/>
            </a:endParaRPr>
          </a:p>
          <a:p>
            <a:pPr marL="0" lvl="0" indent="0" algn="l" rtl="0">
              <a:lnSpc>
                <a:spcPct val="80000"/>
              </a:lnSpc>
              <a:spcBef>
                <a:spcPts val="0"/>
              </a:spcBef>
              <a:spcAft>
                <a:spcPts val="0"/>
              </a:spcAft>
              <a:buNone/>
            </a:pPr>
            <a:endParaRPr sz="1900" dirty="0">
              <a:solidFill>
                <a:srgbClr val="000000"/>
              </a:solidFill>
              <a:latin typeface="Calibri"/>
              <a:ea typeface="Calibri"/>
              <a:cs typeface="Calibri"/>
              <a:sym typeface="Calibri"/>
            </a:endParaRPr>
          </a:p>
          <a:p>
            <a:pPr marL="0" lvl="0" indent="0" algn="l" rtl="0">
              <a:lnSpc>
                <a:spcPct val="80000"/>
              </a:lnSpc>
              <a:spcBef>
                <a:spcPts val="0"/>
              </a:spcBef>
              <a:spcAft>
                <a:spcPts val="0"/>
              </a:spcAft>
              <a:buNone/>
            </a:pPr>
            <a:r>
              <a:rPr lang="en" sz="1900" dirty="0">
                <a:solidFill>
                  <a:srgbClr val="000000"/>
                </a:solidFill>
                <a:latin typeface="Calibri"/>
                <a:ea typeface="Calibri"/>
                <a:cs typeface="Calibri"/>
                <a:sym typeface="Calibri"/>
              </a:rPr>
              <a:t>We humans conceptualize this attention as perception of the location and orientation of ourselves or of tasty or scary things that we can see. </a:t>
            </a:r>
            <a:endParaRPr sz="1900" dirty="0">
              <a:solidFill>
                <a:srgbClr val="000000"/>
              </a:solidFill>
              <a:latin typeface="Calibri"/>
              <a:ea typeface="Calibri"/>
              <a:cs typeface="Calibri"/>
              <a:sym typeface="Calibri"/>
            </a:endParaRPr>
          </a:p>
          <a:p>
            <a:pPr marL="0" lvl="0" indent="0" algn="l" rtl="0">
              <a:lnSpc>
                <a:spcPct val="80000"/>
              </a:lnSpc>
              <a:spcBef>
                <a:spcPts val="0"/>
              </a:spcBef>
              <a:spcAft>
                <a:spcPts val="0"/>
              </a:spcAft>
              <a:buNone/>
            </a:pPr>
            <a:endParaRPr sz="1900" dirty="0">
              <a:solidFill>
                <a:srgbClr val="000000"/>
              </a:solidFill>
              <a:latin typeface="Calibri"/>
              <a:ea typeface="Calibri"/>
              <a:cs typeface="Calibri"/>
              <a:sym typeface="Calibri"/>
            </a:endParaRPr>
          </a:p>
          <a:p>
            <a:pPr marL="0" lvl="0" indent="0" algn="l" rtl="0">
              <a:lnSpc>
                <a:spcPct val="80000"/>
              </a:lnSpc>
              <a:spcBef>
                <a:spcPts val="0"/>
              </a:spcBef>
              <a:spcAft>
                <a:spcPts val="0"/>
              </a:spcAft>
              <a:buNone/>
            </a:pPr>
            <a:r>
              <a:rPr lang="en" sz="1900" dirty="0">
                <a:solidFill>
                  <a:srgbClr val="000000"/>
                </a:solidFill>
                <a:latin typeface="Calibri"/>
                <a:ea typeface="Calibri"/>
                <a:cs typeface="Calibri"/>
                <a:sym typeface="Calibri"/>
              </a:rPr>
              <a:t>This visual attention to a perceived reward or threat we call “focus” or “gaze”. </a:t>
            </a:r>
            <a:endParaRPr sz="1900" dirty="0">
              <a:solidFill>
                <a:srgbClr val="000000"/>
              </a:solidFill>
              <a:latin typeface="Calibri"/>
              <a:ea typeface="Calibri"/>
              <a:cs typeface="Calibri"/>
              <a:sym typeface="Calibri"/>
            </a:endParaRPr>
          </a:p>
          <a:p>
            <a:pPr marL="0" lvl="0" indent="0" algn="just" rtl="0">
              <a:lnSpc>
                <a:spcPct val="80000"/>
              </a:lnSpc>
              <a:spcBef>
                <a:spcPts val="0"/>
              </a:spcBef>
              <a:spcAft>
                <a:spcPts val="0"/>
              </a:spcAft>
              <a:buSzPts val="358"/>
              <a:buNone/>
            </a:pPr>
            <a:endParaRPr sz="2000" dirty="0">
              <a:latin typeface="Calibri"/>
              <a:ea typeface="Calibri"/>
              <a:cs typeface="Calibri"/>
              <a:sym typeface="Calibri"/>
            </a:endParaRPr>
          </a:p>
        </p:txBody>
      </p:sp>
      <p:pic>
        <p:nvPicPr>
          <p:cNvPr id="77" name="Google Shape;77;p15"/>
          <p:cNvPicPr preferRelativeResize="0"/>
          <p:nvPr/>
        </p:nvPicPr>
        <p:blipFill>
          <a:blip r:embed="rId3">
            <a:alphaModFix/>
          </a:blip>
          <a:stretch>
            <a:fillRect/>
          </a:stretch>
        </p:blipFill>
        <p:spPr>
          <a:xfrm>
            <a:off x="6520992" y="1600200"/>
            <a:ext cx="2165808" cy="29718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16"/>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Visual Perception</a:t>
            </a:r>
            <a:endParaRPr>
              <a:latin typeface="Calibri"/>
              <a:ea typeface="Calibri"/>
              <a:cs typeface="Calibri"/>
              <a:sym typeface="Calibri"/>
            </a:endParaRPr>
          </a:p>
        </p:txBody>
      </p:sp>
      <p:sp>
        <p:nvSpPr>
          <p:cNvPr id="83" name="Google Shape;83;p16"/>
          <p:cNvSpPr txBox="1"/>
          <p:nvPr/>
        </p:nvSpPr>
        <p:spPr>
          <a:xfrm>
            <a:off x="497700" y="1634150"/>
            <a:ext cx="5710500" cy="3109200"/>
          </a:xfrm>
          <a:prstGeom prst="rect">
            <a:avLst/>
          </a:prstGeom>
          <a:noFill/>
          <a:ln>
            <a:noFill/>
          </a:ln>
        </p:spPr>
        <p:txBody>
          <a:bodyPr spcFirstLastPara="1" wrap="square" lIns="91425" tIns="91425" rIns="91425" bIns="91425" anchor="t" anchorCtr="0">
            <a:spAutoFit/>
          </a:bodyPr>
          <a:lstStyle/>
          <a:p>
            <a:pPr marL="0" lvl="0" indent="0" rtl="0">
              <a:spcBef>
                <a:spcPts val="0"/>
              </a:spcBef>
              <a:spcAft>
                <a:spcPts val="0"/>
              </a:spcAft>
              <a:buClr>
                <a:schemeClr val="dk1"/>
              </a:buClr>
              <a:buSzPts val="1100"/>
              <a:buFont typeface="Arial"/>
              <a:buNone/>
            </a:pPr>
            <a:r>
              <a:rPr lang="en" sz="1900" dirty="0">
                <a:solidFill>
                  <a:schemeClr val="dk2"/>
                </a:solidFill>
                <a:latin typeface="Calibri"/>
                <a:ea typeface="Calibri"/>
                <a:cs typeface="Calibri"/>
                <a:sym typeface="Calibri"/>
              </a:rPr>
              <a:t>The human has both limited visual acuity and limited ability to think about objects in different reference frames at the same time.</a:t>
            </a:r>
            <a:endParaRPr sz="1900" dirty="0">
              <a:solidFill>
                <a:schemeClr val="dk2"/>
              </a:solidFill>
              <a:latin typeface="Calibri"/>
              <a:ea typeface="Calibri"/>
              <a:cs typeface="Calibri"/>
              <a:sym typeface="Calibri"/>
            </a:endParaRPr>
          </a:p>
          <a:p>
            <a:pPr marL="0" lvl="0" indent="0" rtl="0">
              <a:spcBef>
                <a:spcPts val="0"/>
              </a:spcBef>
              <a:spcAft>
                <a:spcPts val="0"/>
              </a:spcAft>
              <a:buNone/>
            </a:pPr>
            <a:endParaRPr sz="1900" dirty="0">
              <a:solidFill>
                <a:schemeClr val="dk2"/>
              </a:solidFill>
              <a:latin typeface="Calibri"/>
              <a:ea typeface="Calibri"/>
              <a:cs typeface="Calibri"/>
              <a:sym typeface="Calibri"/>
            </a:endParaRPr>
          </a:p>
          <a:p>
            <a:pPr marL="0" lvl="0" indent="0" rtl="0">
              <a:spcBef>
                <a:spcPts val="0"/>
              </a:spcBef>
              <a:spcAft>
                <a:spcPts val="0"/>
              </a:spcAft>
              <a:buNone/>
            </a:pPr>
            <a:r>
              <a:rPr lang="en" sz="1900" dirty="0">
                <a:solidFill>
                  <a:schemeClr val="dk2"/>
                </a:solidFill>
                <a:latin typeface="Calibri"/>
                <a:ea typeface="Calibri"/>
                <a:cs typeface="Calibri"/>
                <a:sym typeface="Calibri"/>
              </a:rPr>
              <a:t>Much of the time, the gaze jumps around in order to project the most important part of the scene on the densest area of retinal receptors. Our wiring blanks out the jumps and stitches the sensed views into a perception of the external environment, focussing attention on recognized objects.</a:t>
            </a:r>
            <a:endParaRPr sz="1900" dirty="0">
              <a:solidFill>
                <a:schemeClr val="dk2"/>
              </a:solidFill>
              <a:latin typeface="Calibri"/>
              <a:ea typeface="Calibri"/>
              <a:cs typeface="Calibri"/>
              <a:sym typeface="Calibri"/>
            </a:endParaRPr>
          </a:p>
        </p:txBody>
      </p:sp>
      <p:pic>
        <p:nvPicPr>
          <p:cNvPr id="84" name="Google Shape;84;p16"/>
          <p:cNvPicPr preferRelativeResize="0"/>
          <p:nvPr/>
        </p:nvPicPr>
        <p:blipFill>
          <a:blip r:embed="rId3">
            <a:alphaModFix/>
          </a:blip>
          <a:stretch>
            <a:fillRect/>
          </a:stretch>
        </p:blipFill>
        <p:spPr>
          <a:xfrm>
            <a:off x="6697150" y="1600200"/>
            <a:ext cx="1989650" cy="2971799"/>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7"/>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Visual Perception</a:t>
            </a:r>
            <a:endParaRPr>
              <a:latin typeface="Calibri"/>
              <a:ea typeface="Calibri"/>
              <a:cs typeface="Calibri"/>
              <a:sym typeface="Calibri"/>
            </a:endParaRPr>
          </a:p>
        </p:txBody>
      </p:sp>
      <p:pic>
        <p:nvPicPr>
          <p:cNvPr id="90" name="Google Shape;90;p17"/>
          <p:cNvPicPr preferRelativeResize="0"/>
          <p:nvPr/>
        </p:nvPicPr>
        <p:blipFill>
          <a:blip r:embed="rId3">
            <a:alphaModFix/>
          </a:blip>
          <a:stretch>
            <a:fillRect/>
          </a:stretch>
        </p:blipFill>
        <p:spPr>
          <a:xfrm>
            <a:off x="3522600" y="1600200"/>
            <a:ext cx="5160175" cy="2971801"/>
          </a:xfrm>
          <a:prstGeom prst="rect">
            <a:avLst/>
          </a:prstGeom>
          <a:noFill/>
          <a:ln>
            <a:noFill/>
          </a:ln>
        </p:spPr>
      </p:pic>
      <p:sp>
        <p:nvSpPr>
          <p:cNvPr id="91" name="Google Shape;91;p17"/>
          <p:cNvSpPr txBox="1"/>
          <p:nvPr/>
        </p:nvSpPr>
        <p:spPr>
          <a:xfrm>
            <a:off x="463500" y="1634150"/>
            <a:ext cx="2577000" cy="3109200"/>
          </a:xfrm>
          <a:prstGeom prst="rect">
            <a:avLst/>
          </a:prstGeom>
          <a:noFill/>
          <a:ln>
            <a:noFill/>
          </a:ln>
        </p:spPr>
        <p:txBody>
          <a:bodyPr spcFirstLastPara="1" wrap="square" lIns="91425" tIns="91425" rIns="91425" bIns="91425" anchor="t" anchorCtr="0">
            <a:spAutoFit/>
          </a:bodyPr>
          <a:lstStyle/>
          <a:p>
            <a:pPr marL="0" lvl="0" indent="0" rtl="0">
              <a:spcBef>
                <a:spcPts val="0"/>
              </a:spcBef>
              <a:spcAft>
                <a:spcPts val="0"/>
              </a:spcAft>
              <a:buNone/>
            </a:pPr>
            <a:r>
              <a:rPr lang="en" sz="1900" dirty="0">
                <a:solidFill>
                  <a:schemeClr val="dk2"/>
                </a:solidFill>
                <a:latin typeface="Calibri"/>
                <a:ea typeface="Calibri"/>
                <a:cs typeface="Calibri"/>
                <a:sym typeface="Calibri"/>
              </a:rPr>
              <a:t>Our visual perception produces a simplified internal representation, focussed on one Subject.</a:t>
            </a:r>
            <a:endParaRPr sz="1900" dirty="0">
              <a:solidFill>
                <a:schemeClr val="dk2"/>
              </a:solidFill>
              <a:latin typeface="Calibri"/>
              <a:ea typeface="Calibri"/>
              <a:cs typeface="Calibri"/>
              <a:sym typeface="Calibri"/>
            </a:endParaRPr>
          </a:p>
          <a:p>
            <a:pPr marL="0" lvl="0" indent="0" rtl="0">
              <a:spcBef>
                <a:spcPts val="0"/>
              </a:spcBef>
              <a:spcAft>
                <a:spcPts val="0"/>
              </a:spcAft>
              <a:buNone/>
            </a:pPr>
            <a:endParaRPr sz="1900" dirty="0">
              <a:solidFill>
                <a:schemeClr val="dk2"/>
              </a:solidFill>
              <a:latin typeface="Calibri"/>
              <a:ea typeface="Calibri"/>
              <a:cs typeface="Calibri"/>
              <a:sym typeface="Calibri"/>
            </a:endParaRPr>
          </a:p>
          <a:p>
            <a:pPr marL="0" lvl="0" indent="0" rtl="0">
              <a:spcBef>
                <a:spcPts val="0"/>
              </a:spcBef>
              <a:spcAft>
                <a:spcPts val="0"/>
              </a:spcAft>
              <a:buClr>
                <a:schemeClr val="dk1"/>
              </a:buClr>
              <a:buSzPts val="1100"/>
              <a:buFont typeface="Arial"/>
              <a:buNone/>
            </a:pPr>
            <a:r>
              <a:rPr lang="en" sz="1900" dirty="0">
                <a:solidFill>
                  <a:schemeClr val="dk2"/>
                </a:solidFill>
                <a:latin typeface="Calibri"/>
                <a:ea typeface="Calibri"/>
                <a:cs typeface="Calibri"/>
                <a:sym typeface="Calibri"/>
              </a:rPr>
              <a:t>We maintain the illusion that we are looking at many things simultaneously.</a:t>
            </a:r>
            <a:endParaRPr sz="1900" dirty="0">
              <a:solidFill>
                <a:schemeClr val="dk2"/>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Perception Is Selective</a:t>
            </a:r>
            <a:endParaRPr>
              <a:latin typeface="Calibri"/>
              <a:ea typeface="Calibri"/>
              <a:cs typeface="Calibri"/>
              <a:sym typeface="Calibri"/>
            </a:endParaRPr>
          </a:p>
        </p:txBody>
      </p:sp>
      <p:sp>
        <p:nvSpPr>
          <p:cNvPr id="97" name="Google Shape;97;p18"/>
          <p:cNvSpPr txBox="1"/>
          <p:nvPr/>
        </p:nvSpPr>
        <p:spPr>
          <a:xfrm>
            <a:off x="2847450" y="1600200"/>
            <a:ext cx="5839200" cy="3109200"/>
          </a:xfrm>
          <a:prstGeom prst="rect">
            <a:avLst/>
          </a:prstGeom>
          <a:noFill/>
          <a:ln>
            <a:noFill/>
          </a:ln>
        </p:spPr>
        <p:txBody>
          <a:bodyPr spcFirstLastPara="1" wrap="square" lIns="91425" tIns="91425" rIns="91425" bIns="91425" anchor="t" anchorCtr="0">
            <a:spAutoFit/>
          </a:bodyPr>
          <a:lstStyle/>
          <a:p>
            <a:pPr marL="0" lvl="0" indent="0" algn="just" rtl="0">
              <a:spcBef>
                <a:spcPts val="0"/>
              </a:spcBef>
              <a:spcAft>
                <a:spcPts val="0"/>
              </a:spcAft>
              <a:buNone/>
            </a:pPr>
            <a:r>
              <a:rPr lang="en" sz="1900">
                <a:solidFill>
                  <a:schemeClr val="dk2"/>
                </a:solidFill>
                <a:latin typeface="Calibri"/>
                <a:ea typeface="Calibri"/>
                <a:cs typeface="Calibri"/>
                <a:sym typeface="Calibri"/>
              </a:rPr>
              <a:t>This Boy creates a simplified internal representation.</a:t>
            </a:r>
            <a:endParaRPr sz="1900">
              <a:solidFill>
                <a:schemeClr val="dk2"/>
              </a:solidFill>
              <a:latin typeface="Calibri"/>
              <a:ea typeface="Calibri"/>
              <a:cs typeface="Calibri"/>
              <a:sym typeface="Calibri"/>
            </a:endParaRPr>
          </a:p>
          <a:p>
            <a:pPr marL="0" lvl="0" indent="0" algn="just" rtl="0">
              <a:spcBef>
                <a:spcPts val="0"/>
              </a:spcBef>
              <a:spcAft>
                <a:spcPts val="0"/>
              </a:spcAft>
              <a:buNone/>
            </a:pPr>
            <a:endParaRPr sz="1900">
              <a:solidFill>
                <a:schemeClr val="dk2"/>
              </a:solidFill>
              <a:latin typeface="Calibri"/>
              <a:ea typeface="Calibri"/>
              <a:cs typeface="Calibri"/>
              <a:sym typeface="Calibri"/>
            </a:endParaRPr>
          </a:p>
          <a:p>
            <a:pPr marL="457200" lvl="0" indent="-349250" algn="just" rtl="0">
              <a:spcBef>
                <a:spcPts val="0"/>
              </a:spcBef>
              <a:spcAft>
                <a:spcPts val="0"/>
              </a:spcAft>
              <a:buClr>
                <a:schemeClr val="dk2"/>
              </a:buClr>
              <a:buSzPts val="1900"/>
              <a:buFont typeface="Calibri"/>
              <a:buChar char="●"/>
            </a:pPr>
            <a:r>
              <a:rPr lang="en" sz="1900">
                <a:solidFill>
                  <a:schemeClr val="dk2"/>
                </a:solidFill>
                <a:latin typeface="Calibri"/>
                <a:ea typeface="Calibri"/>
                <a:cs typeface="Calibri"/>
                <a:sym typeface="Calibri"/>
              </a:rPr>
              <a:t>Lion - </a:t>
            </a:r>
            <a:r>
              <a:rPr lang="en" sz="1900" i="1">
                <a:solidFill>
                  <a:schemeClr val="dk2"/>
                </a:solidFill>
                <a:latin typeface="Calibri"/>
                <a:ea typeface="Calibri"/>
                <a:cs typeface="Calibri"/>
                <a:sym typeface="Calibri"/>
              </a:rPr>
              <a:t>very dangerous</a:t>
            </a:r>
            <a:endParaRPr sz="1900" i="1">
              <a:solidFill>
                <a:schemeClr val="dk2"/>
              </a:solidFill>
              <a:latin typeface="Calibri"/>
              <a:ea typeface="Calibri"/>
              <a:cs typeface="Calibri"/>
              <a:sym typeface="Calibri"/>
            </a:endParaRPr>
          </a:p>
          <a:p>
            <a:pPr marL="457200" lvl="0" indent="-349250" algn="just" rtl="0">
              <a:spcBef>
                <a:spcPts val="0"/>
              </a:spcBef>
              <a:spcAft>
                <a:spcPts val="0"/>
              </a:spcAft>
              <a:buClr>
                <a:schemeClr val="dk2"/>
              </a:buClr>
              <a:buSzPts val="1900"/>
              <a:buFont typeface="Calibri"/>
              <a:buChar char="●"/>
            </a:pPr>
            <a:r>
              <a:rPr lang="en" sz="1900">
                <a:solidFill>
                  <a:schemeClr val="dk2"/>
                </a:solidFill>
                <a:latin typeface="Calibri"/>
                <a:ea typeface="Calibri"/>
                <a:cs typeface="Calibri"/>
                <a:sym typeface="Calibri"/>
              </a:rPr>
              <a:t>Snake - </a:t>
            </a:r>
            <a:r>
              <a:rPr lang="en" sz="1900" i="1">
                <a:solidFill>
                  <a:schemeClr val="dk2"/>
                </a:solidFill>
                <a:latin typeface="Calibri"/>
                <a:ea typeface="Calibri"/>
                <a:cs typeface="Calibri"/>
                <a:sym typeface="Calibri"/>
              </a:rPr>
              <a:t>dangerous</a:t>
            </a:r>
            <a:endParaRPr sz="1900" i="1">
              <a:solidFill>
                <a:schemeClr val="dk2"/>
              </a:solidFill>
              <a:latin typeface="Calibri"/>
              <a:ea typeface="Calibri"/>
              <a:cs typeface="Calibri"/>
              <a:sym typeface="Calibri"/>
            </a:endParaRPr>
          </a:p>
          <a:p>
            <a:pPr marL="457200" lvl="0" indent="-349250" algn="just" rtl="0">
              <a:spcBef>
                <a:spcPts val="0"/>
              </a:spcBef>
              <a:spcAft>
                <a:spcPts val="0"/>
              </a:spcAft>
              <a:buClr>
                <a:schemeClr val="dk2"/>
              </a:buClr>
              <a:buSzPts val="1900"/>
              <a:buFont typeface="Calibri"/>
              <a:buChar char="●"/>
            </a:pPr>
            <a:r>
              <a:rPr lang="en" sz="1900">
                <a:solidFill>
                  <a:schemeClr val="dk2"/>
                </a:solidFill>
                <a:latin typeface="Calibri"/>
                <a:ea typeface="Calibri"/>
                <a:cs typeface="Calibri"/>
                <a:sym typeface="Calibri"/>
              </a:rPr>
              <a:t>Rabbit, Dog, Cat, Bird</a:t>
            </a:r>
            <a:endParaRPr sz="1900">
              <a:solidFill>
                <a:schemeClr val="dk2"/>
              </a:solidFill>
              <a:latin typeface="Calibri"/>
              <a:ea typeface="Calibri"/>
              <a:cs typeface="Calibri"/>
              <a:sym typeface="Calibri"/>
            </a:endParaRPr>
          </a:p>
          <a:p>
            <a:pPr marL="457200" lvl="0" indent="-349250" algn="just" rtl="0">
              <a:spcBef>
                <a:spcPts val="0"/>
              </a:spcBef>
              <a:spcAft>
                <a:spcPts val="0"/>
              </a:spcAft>
              <a:buClr>
                <a:schemeClr val="dk2"/>
              </a:buClr>
              <a:buSzPts val="1900"/>
              <a:buFont typeface="Calibri"/>
              <a:buChar char="●"/>
            </a:pPr>
            <a:r>
              <a:rPr lang="en" sz="1900">
                <a:solidFill>
                  <a:schemeClr val="dk2"/>
                </a:solidFill>
                <a:latin typeface="Calibri"/>
                <a:ea typeface="Calibri"/>
                <a:cs typeface="Calibri"/>
                <a:sym typeface="Calibri"/>
              </a:rPr>
              <a:t>Deer, Lawn, Bush</a:t>
            </a:r>
            <a:endParaRPr sz="1900">
              <a:solidFill>
                <a:schemeClr val="dk2"/>
              </a:solidFill>
              <a:latin typeface="Calibri"/>
              <a:ea typeface="Calibri"/>
              <a:cs typeface="Calibri"/>
              <a:sym typeface="Calibri"/>
            </a:endParaRPr>
          </a:p>
          <a:p>
            <a:pPr marL="457200" lvl="0" indent="-349250" algn="just" rtl="0">
              <a:spcBef>
                <a:spcPts val="0"/>
              </a:spcBef>
              <a:spcAft>
                <a:spcPts val="0"/>
              </a:spcAft>
              <a:buClr>
                <a:schemeClr val="dk2"/>
              </a:buClr>
              <a:buSzPts val="1900"/>
              <a:buFont typeface="Calibri"/>
              <a:buChar char="●"/>
            </a:pPr>
            <a:r>
              <a:rPr lang="en" sz="1900">
                <a:solidFill>
                  <a:schemeClr val="dk2"/>
                </a:solidFill>
                <a:latin typeface="Calibri"/>
                <a:ea typeface="Calibri"/>
                <a:cs typeface="Calibri"/>
                <a:sym typeface="Calibri"/>
              </a:rPr>
              <a:t>Footpath, Footpath</a:t>
            </a:r>
            <a:endParaRPr sz="1900">
              <a:solidFill>
                <a:schemeClr val="dk2"/>
              </a:solidFill>
              <a:latin typeface="Calibri"/>
              <a:ea typeface="Calibri"/>
              <a:cs typeface="Calibri"/>
              <a:sym typeface="Calibri"/>
            </a:endParaRPr>
          </a:p>
          <a:p>
            <a:pPr marL="457200" lvl="0" indent="-349250" algn="just" rtl="0">
              <a:spcBef>
                <a:spcPts val="0"/>
              </a:spcBef>
              <a:spcAft>
                <a:spcPts val="0"/>
              </a:spcAft>
              <a:buClr>
                <a:schemeClr val="dk2"/>
              </a:buClr>
              <a:buSzPts val="1900"/>
              <a:buFont typeface="Calibri"/>
              <a:buChar char="●"/>
            </a:pPr>
            <a:r>
              <a:rPr lang="en" sz="1900">
                <a:solidFill>
                  <a:schemeClr val="dk2"/>
                </a:solidFill>
                <a:latin typeface="Calibri"/>
                <a:ea typeface="Calibri"/>
                <a:cs typeface="Calibri"/>
                <a:sym typeface="Calibri"/>
              </a:rPr>
              <a:t>Car, Driver, Tree, Tree, Bush, Street</a:t>
            </a:r>
            <a:endParaRPr sz="1900">
              <a:solidFill>
                <a:schemeClr val="dk2"/>
              </a:solidFill>
              <a:latin typeface="Calibri"/>
              <a:ea typeface="Calibri"/>
              <a:cs typeface="Calibri"/>
              <a:sym typeface="Calibri"/>
            </a:endParaRPr>
          </a:p>
          <a:p>
            <a:pPr marL="0" lvl="0" indent="0" algn="just" rtl="0">
              <a:spcBef>
                <a:spcPts val="0"/>
              </a:spcBef>
              <a:spcAft>
                <a:spcPts val="0"/>
              </a:spcAft>
              <a:buNone/>
            </a:pPr>
            <a:endParaRPr sz="1900">
              <a:solidFill>
                <a:schemeClr val="dk2"/>
              </a:solidFill>
              <a:latin typeface="Calibri"/>
              <a:ea typeface="Calibri"/>
              <a:cs typeface="Calibri"/>
              <a:sym typeface="Calibri"/>
            </a:endParaRPr>
          </a:p>
          <a:p>
            <a:pPr marL="0" lvl="0" indent="0" algn="just" rtl="0">
              <a:spcBef>
                <a:spcPts val="0"/>
              </a:spcBef>
              <a:spcAft>
                <a:spcPts val="0"/>
              </a:spcAft>
              <a:buNone/>
            </a:pPr>
            <a:r>
              <a:rPr lang="en" sz="1900">
                <a:solidFill>
                  <a:schemeClr val="dk2"/>
                </a:solidFill>
                <a:latin typeface="Calibri"/>
                <a:ea typeface="Calibri"/>
                <a:cs typeface="Calibri"/>
                <a:sym typeface="Calibri"/>
              </a:rPr>
              <a:t>He attends to the Lion and may be aware of the Snake.</a:t>
            </a:r>
            <a:endParaRPr sz="1900">
              <a:solidFill>
                <a:schemeClr val="dk2"/>
              </a:solidFill>
              <a:latin typeface="Calibri"/>
              <a:ea typeface="Calibri"/>
              <a:cs typeface="Calibri"/>
              <a:sym typeface="Calibri"/>
            </a:endParaRPr>
          </a:p>
        </p:txBody>
      </p:sp>
      <p:pic>
        <p:nvPicPr>
          <p:cNvPr id="98" name="Google Shape;98;p18"/>
          <p:cNvPicPr preferRelativeResize="0"/>
          <p:nvPr/>
        </p:nvPicPr>
        <p:blipFill>
          <a:blip r:embed="rId3">
            <a:alphaModFix/>
          </a:blip>
          <a:stretch>
            <a:fillRect/>
          </a:stretch>
        </p:blipFill>
        <p:spPr>
          <a:xfrm>
            <a:off x="463500" y="1606244"/>
            <a:ext cx="1942775" cy="296574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9"/>
          <p:cNvSpPr txBox="1">
            <a:spLocks noGrp="1"/>
          </p:cNvSpPr>
          <p:nvPr>
            <p:ph type="ctrTitle"/>
          </p:nvPr>
        </p:nvSpPr>
        <p:spPr>
          <a:xfrm>
            <a:off x="463500" y="744575"/>
            <a:ext cx="82233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Attention</a:t>
            </a:r>
            <a:endParaRPr>
              <a:latin typeface="Calibri"/>
              <a:ea typeface="Calibri"/>
              <a:cs typeface="Calibri"/>
              <a:sym typeface="Calibri"/>
            </a:endParaRPr>
          </a:p>
        </p:txBody>
      </p:sp>
      <p:pic>
        <p:nvPicPr>
          <p:cNvPr id="104" name="Google Shape;104;p19"/>
          <p:cNvPicPr preferRelativeResize="0"/>
          <p:nvPr/>
        </p:nvPicPr>
        <p:blipFill>
          <a:blip r:embed="rId3">
            <a:alphaModFix/>
          </a:blip>
          <a:stretch>
            <a:fillRect/>
          </a:stretch>
        </p:blipFill>
        <p:spPr>
          <a:xfrm>
            <a:off x="463500" y="1600200"/>
            <a:ext cx="1919656" cy="2971799"/>
          </a:xfrm>
          <a:prstGeom prst="rect">
            <a:avLst/>
          </a:prstGeom>
          <a:noFill/>
          <a:ln>
            <a:noFill/>
          </a:ln>
        </p:spPr>
      </p:pic>
      <p:sp>
        <p:nvSpPr>
          <p:cNvPr id="105" name="Google Shape;105;p19"/>
          <p:cNvSpPr txBox="1"/>
          <p:nvPr/>
        </p:nvSpPr>
        <p:spPr>
          <a:xfrm>
            <a:off x="2855675" y="1649250"/>
            <a:ext cx="5831100" cy="3109200"/>
          </a:xfrm>
          <a:prstGeom prst="rect">
            <a:avLst/>
          </a:prstGeom>
          <a:noFill/>
          <a:ln>
            <a:noFill/>
          </a:ln>
        </p:spPr>
        <p:txBody>
          <a:bodyPr spcFirstLastPara="1" wrap="square" lIns="91425" tIns="91425" rIns="91425" bIns="91425" anchor="t" anchorCtr="0">
            <a:spAutoFit/>
          </a:bodyPr>
          <a:lstStyle/>
          <a:p>
            <a:pPr marL="0" lvl="0" indent="0" rtl="0">
              <a:spcBef>
                <a:spcPts val="0"/>
              </a:spcBef>
              <a:spcAft>
                <a:spcPts val="0"/>
              </a:spcAft>
              <a:buNone/>
            </a:pPr>
            <a:r>
              <a:rPr lang="en" sz="1900" dirty="0">
                <a:solidFill>
                  <a:schemeClr val="dk2"/>
                </a:solidFill>
                <a:latin typeface="Calibri"/>
                <a:ea typeface="Calibri"/>
                <a:cs typeface="Calibri"/>
                <a:sym typeface="Calibri"/>
              </a:rPr>
              <a:t>All of the sentient beings (Observers) perceive and are attending to the Boy (Subject). Each has established a reference frame, centred on their visual system and oriented toward the Boy. This relationship between Observer and Subject is a Pose. A Pose is a simple and direct way to express an attention relationship, visually perceived in the scene. </a:t>
            </a:r>
            <a:endParaRPr sz="1900" dirty="0">
              <a:solidFill>
                <a:schemeClr val="dk2"/>
              </a:solidFill>
              <a:latin typeface="Calibri"/>
              <a:ea typeface="Calibri"/>
              <a:cs typeface="Calibri"/>
              <a:sym typeface="Calibri"/>
            </a:endParaRPr>
          </a:p>
          <a:p>
            <a:pPr marL="0" lvl="0" indent="0" rtl="0">
              <a:spcBef>
                <a:spcPts val="0"/>
              </a:spcBef>
              <a:spcAft>
                <a:spcPts val="0"/>
              </a:spcAft>
              <a:buNone/>
            </a:pPr>
            <a:endParaRPr sz="1900" dirty="0">
              <a:solidFill>
                <a:schemeClr val="dk2"/>
              </a:solidFill>
              <a:latin typeface="Calibri"/>
              <a:ea typeface="Calibri"/>
              <a:cs typeface="Calibri"/>
              <a:sym typeface="Calibri"/>
            </a:endParaRPr>
          </a:p>
          <a:p>
            <a:pPr marL="0" lvl="0" indent="0" rtl="0">
              <a:spcBef>
                <a:spcPts val="0"/>
              </a:spcBef>
              <a:spcAft>
                <a:spcPts val="0"/>
              </a:spcAft>
              <a:buNone/>
            </a:pPr>
            <a:r>
              <a:rPr lang="en" sz="1900" dirty="0">
                <a:solidFill>
                  <a:schemeClr val="dk2"/>
                </a:solidFill>
                <a:latin typeface="Calibri"/>
                <a:ea typeface="Calibri"/>
                <a:cs typeface="Calibri"/>
                <a:sym typeface="Calibri"/>
              </a:rPr>
              <a:t>Example Pose description: </a:t>
            </a:r>
            <a:r>
              <a:rPr lang="en" sz="1900" i="1" dirty="0">
                <a:solidFill>
                  <a:schemeClr val="dk2"/>
                </a:solidFill>
                <a:latin typeface="Calibri"/>
                <a:ea typeface="Calibri"/>
                <a:cs typeface="Calibri"/>
                <a:sym typeface="Calibri"/>
              </a:rPr>
              <a:t>The Lion is 3 m in front of the Boy, looking at him</a:t>
            </a:r>
            <a:r>
              <a:rPr lang="en" sz="1900" dirty="0">
                <a:solidFill>
                  <a:schemeClr val="dk2"/>
                </a:solidFill>
                <a:latin typeface="Calibri"/>
                <a:ea typeface="Calibri"/>
                <a:cs typeface="Calibri"/>
                <a:sym typeface="Calibri"/>
              </a:rPr>
              <a:t>. </a:t>
            </a:r>
            <a:endParaRPr sz="1900" dirty="0">
              <a:solidFill>
                <a:schemeClr val="dk2"/>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20"/>
          <p:cNvSpPr txBox="1">
            <a:spLocks noGrp="1"/>
          </p:cNvSpPr>
          <p:nvPr>
            <p:ph type="ctrTitle"/>
          </p:nvPr>
        </p:nvSpPr>
        <p:spPr>
          <a:xfrm>
            <a:off x="463500" y="744575"/>
            <a:ext cx="82233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Attention and Pose</a:t>
            </a:r>
            <a:endParaRPr>
              <a:latin typeface="Calibri"/>
              <a:ea typeface="Calibri"/>
              <a:cs typeface="Calibri"/>
              <a:sym typeface="Calibri"/>
            </a:endParaRPr>
          </a:p>
        </p:txBody>
      </p:sp>
      <p:sp>
        <p:nvSpPr>
          <p:cNvPr id="111" name="Google Shape;111;p20"/>
          <p:cNvSpPr txBox="1"/>
          <p:nvPr/>
        </p:nvSpPr>
        <p:spPr>
          <a:xfrm>
            <a:off x="463500" y="1600200"/>
            <a:ext cx="4780500" cy="3109200"/>
          </a:xfrm>
          <a:prstGeom prst="rect">
            <a:avLst/>
          </a:prstGeom>
          <a:noFill/>
          <a:ln>
            <a:noFill/>
          </a:ln>
        </p:spPr>
        <p:txBody>
          <a:bodyPr spcFirstLastPara="1" wrap="square" lIns="91425" tIns="91425" rIns="91425" bIns="91425" anchor="t" anchorCtr="0">
            <a:spAutoFit/>
          </a:bodyPr>
          <a:lstStyle/>
          <a:p>
            <a:pPr marL="0" lvl="0" indent="0" rtl="0">
              <a:spcBef>
                <a:spcPts val="0"/>
              </a:spcBef>
              <a:spcAft>
                <a:spcPts val="0"/>
              </a:spcAft>
              <a:buNone/>
            </a:pPr>
            <a:r>
              <a:rPr lang="en" sz="1900" dirty="0">
                <a:solidFill>
                  <a:schemeClr val="dk2"/>
                </a:solidFill>
                <a:latin typeface="Calibri"/>
                <a:ea typeface="Calibri"/>
                <a:cs typeface="Calibri"/>
                <a:sym typeface="Calibri"/>
              </a:rPr>
              <a:t>Here, the Rabbit (Observer) is attending to the Dog (Subject) while the Lion (Observer) is attending to the Rabbit (Subject).  Some objects cannot pay attention (Tree) and some are </a:t>
            </a:r>
            <a:r>
              <a:rPr lang="en" sz="1900" i="1" dirty="0">
                <a:solidFill>
                  <a:schemeClr val="dk2"/>
                </a:solidFill>
                <a:latin typeface="Calibri"/>
                <a:ea typeface="Calibri"/>
                <a:cs typeface="Calibri"/>
                <a:sym typeface="Calibri"/>
              </a:rPr>
              <a:t>controlled</a:t>
            </a:r>
            <a:r>
              <a:rPr lang="en" sz="1900" dirty="0">
                <a:solidFill>
                  <a:schemeClr val="dk2"/>
                </a:solidFill>
                <a:latin typeface="Calibri"/>
                <a:ea typeface="Calibri"/>
                <a:cs typeface="Calibri"/>
                <a:sym typeface="Calibri"/>
              </a:rPr>
              <a:t> by an Observer (Car).</a:t>
            </a:r>
            <a:endParaRPr sz="1900" dirty="0">
              <a:solidFill>
                <a:schemeClr val="dk2"/>
              </a:solidFill>
              <a:latin typeface="Calibri"/>
              <a:ea typeface="Calibri"/>
              <a:cs typeface="Calibri"/>
              <a:sym typeface="Calibri"/>
            </a:endParaRPr>
          </a:p>
          <a:p>
            <a:pPr marL="0" lvl="0" indent="0" rtl="0">
              <a:spcBef>
                <a:spcPts val="0"/>
              </a:spcBef>
              <a:spcAft>
                <a:spcPts val="0"/>
              </a:spcAft>
              <a:buNone/>
            </a:pPr>
            <a:endParaRPr sz="1900" dirty="0">
              <a:solidFill>
                <a:schemeClr val="dk2"/>
              </a:solidFill>
              <a:latin typeface="Calibri"/>
              <a:ea typeface="Calibri"/>
              <a:cs typeface="Calibri"/>
              <a:sym typeface="Calibri"/>
            </a:endParaRPr>
          </a:p>
          <a:p>
            <a:pPr marL="0" lvl="0" indent="0" rtl="0">
              <a:spcBef>
                <a:spcPts val="0"/>
              </a:spcBef>
              <a:spcAft>
                <a:spcPts val="0"/>
              </a:spcAft>
              <a:buNone/>
            </a:pPr>
            <a:r>
              <a:rPr lang="en" sz="1900" dirty="0">
                <a:solidFill>
                  <a:schemeClr val="dk2"/>
                </a:solidFill>
                <a:latin typeface="Calibri"/>
                <a:ea typeface="Calibri"/>
                <a:cs typeface="Calibri"/>
                <a:sym typeface="Calibri"/>
              </a:rPr>
              <a:t>Each Observer can fully attend to only one detected Subject at a time. Posed attention limits global awareness but we normally do not realise this effect of focus. </a:t>
            </a:r>
            <a:endParaRPr sz="2200" dirty="0">
              <a:solidFill>
                <a:schemeClr val="dk2"/>
              </a:solidFill>
              <a:latin typeface="Calibri"/>
              <a:ea typeface="Calibri"/>
              <a:cs typeface="Calibri"/>
              <a:sym typeface="Calibri"/>
            </a:endParaRPr>
          </a:p>
        </p:txBody>
      </p:sp>
      <p:pic>
        <p:nvPicPr>
          <p:cNvPr id="112" name="Google Shape;112;p20"/>
          <p:cNvPicPr preferRelativeResize="0"/>
          <p:nvPr/>
        </p:nvPicPr>
        <p:blipFill>
          <a:blip r:embed="rId3">
            <a:alphaModFix/>
          </a:blip>
          <a:stretch>
            <a:fillRect/>
          </a:stretch>
        </p:blipFill>
        <p:spPr>
          <a:xfrm>
            <a:off x="5762177" y="1600200"/>
            <a:ext cx="2924629" cy="297180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Translation-Orientation Model</a:t>
            </a:r>
            <a:endParaRPr>
              <a:latin typeface="Calibri"/>
              <a:ea typeface="Calibri"/>
              <a:cs typeface="Calibri"/>
              <a:sym typeface="Calibri"/>
            </a:endParaRPr>
          </a:p>
        </p:txBody>
      </p:sp>
      <p:pic>
        <p:nvPicPr>
          <p:cNvPr id="118" name="Google Shape;118;p21"/>
          <p:cNvPicPr preferRelativeResize="0"/>
          <p:nvPr/>
        </p:nvPicPr>
        <p:blipFill>
          <a:blip r:embed="rId3">
            <a:alphaModFix/>
          </a:blip>
          <a:stretch>
            <a:fillRect/>
          </a:stretch>
        </p:blipFill>
        <p:spPr>
          <a:xfrm>
            <a:off x="3452078" y="1600200"/>
            <a:ext cx="2047721" cy="2971801"/>
          </a:xfrm>
          <a:prstGeom prst="rect">
            <a:avLst/>
          </a:prstGeom>
          <a:noFill/>
          <a:ln>
            <a:noFill/>
          </a:ln>
        </p:spPr>
      </p:pic>
      <p:sp>
        <p:nvSpPr>
          <p:cNvPr id="119" name="Google Shape;119;p21"/>
          <p:cNvSpPr txBox="1"/>
          <p:nvPr/>
        </p:nvSpPr>
        <p:spPr>
          <a:xfrm>
            <a:off x="463500" y="1600075"/>
            <a:ext cx="2500800" cy="2971800"/>
          </a:xfrm>
          <a:prstGeom prst="rect">
            <a:avLst/>
          </a:prstGeom>
          <a:noFill/>
          <a:ln>
            <a:noFill/>
          </a:ln>
        </p:spPr>
        <p:txBody>
          <a:bodyPr spcFirstLastPara="1" wrap="square" lIns="91425" tIns="91425" rIns="91425" bIns="91425" anchor="t" anchorCtr="0">
            <a:noAutofit/>
          </a:bodyPr>
          <a:lstStyle/>
          <a:p>
            <a:pPr marL="0" lvl="0" indent="0" rtl="0">
              <a:spcBef>
                <a:spcPts val="0"/>
              </a:spcBef>
              <a:spcAft>
                <a:spcPts val="0"/>
              </a:spcAft>
              <a:buNone/>
            </a:pPr>
            <a:r>
              <a:rPr lang="en" sz="1900" dirty="0">
                <a:solidFill>
                  <a:schemeClr val="dk2"/>
                </a:solidFill>
                <a:latin typeface="Calibri"/>
                <a:ea typeface="Calibri"/>
                <a:cs typeface="Calibri"/>
                <a:sym typeface="Calibri"/>
              </a:rPr>
              <a:t>Pose is an abstraction of the concept of an Observer’s attention to a visually detected Subject. </a:t>
            </a:r>
            <a:endParaRPr sz="1900" dirty="0">
              <a:solidFill>
                <a:schemeClr val="dk2"/>
              </a:solidFill>
              <a:latin typeface="Calibri"/>
              <a:ea typeface="Calibri"/>
              <a:cs typeface="Calibri"/>
              <a:sym typeface="Calibri"/>
            </a:endParaRPr>
          </a:p>
          <a:p>
            <a:pPr marL="0" lvl="0" indent="0" rtl="0">
              <a:spcBef>
                <a:spcPts val="0"/>
              </a:spcBef>
              <a:spcAft>
                <a:spcPts val="0"/>
              </a:spcAft>
              <a:buNone/>
            </a:pPr>
            <a:endParaRPr sz="1900" dirty="0">
              <a:solidFill>
                <a:schemeClr val="dk2"/>
              </a:solidFill>
              <a:latin typeface="Calibri"/>
              <a:ea typeface="Calibri"/>
              <a:cs typeface="Calibri"/>
              <a:sym typeface="Calibri"/>
            </a:endParaRPr>
          </a:p>
          <a:p>
            <a:pPr marL="0" lvl="0" indent="0" rtl="0">
              <a:spcBef>
                <a:spcPts val="0"/>
              </a:spcBef>
              <a:spcAft>
                <a:spcPts val="0"/>
              </a:spcAft>
              <a:buNone/>
            </a:pPr>
            <a:r>
              <a:rPr lang="en" sz="1900" dirty="0">
                <a:solidFill>
                  <a:schemeClr val="dk2"/>
                </a:solidFill>
                <a:latin typeface="Calibri"/>
                <a:ea typeface="Calibri"/>
                <a:cs typeface="Calibri"/>
                <a:sym typeface="Calibri"/>
              </a:rPr>
              <a:t>One way to express Pose is to start with a geometrical model.</a:t>
            </a:r>
            <a:endParaRPr sz="1900" dirty="0">
              <a:solidFill>
                <a:schemeClr val="dk2"/>
              </a:solidFill>
              <a:latin typeface="Calibri"/>
              <a:ea typeface="Calibri"/>
              <a:cs typeface="Calibri"/>
              <a:sym typeface="Calibri"/>
            </a:endParaRPr>
          </a:p>
        </p:txBody>
      </p:sp>
      <p:sp>
        <p:nvSpPr>
          <p:cNvPr id="120" name="Google Shape;120;p21"/>
          <p:cNvSpPr txBox="1"/>
          <p:nvPr/>
        </p:nvSpPr>
        <p:spPr>
          <a:xfrm>
            <a:off x="5919650" y="1600200"/>
            <a:ext cx="2767200" cy="2971800"/>
          </a:xfrm>
          <a:prstGeom prst="rect">
            <a:avLst/>
          </a:prstGeom>
          <a:noFill/>
          <a:ln>
            <a:noFill/>
          </a:ln>
        </p:spPr>
        <p:txBody>
          <a:bodyPr spcFirstLastPara="1" wrap="square" lIns="91425" tIns="91425" rIns="91425" bIns="91425" anchor="t" anchorCtr="0">
            <a:noAutofit/>
          </a:bodyPr>
          <a:lstStyle/>
          <a:p>
            <a:pPr marL="0" lvl="0" indent="0" rtl="0">
              <a:spcBef>
                <a:spcPts val="0"/>
              </a:spcBef>
              <a:spcAft>
                <a:spcPts val="0"/>
              </a:spcAft>
              <a:buNone/>
            </a:pPr>
            <a:r>
              <a:rPr lang="en" sz="1800" u="sng" dirty="0">
                <a:solidFill>
                  <a:schemeClr val="dk2"/>
                </a:solidFill>
                <a:latin typeface="Calibri"/>
                <a:ea typeface="Calibri"/>
                <a:cs typeface="Calibri"/>
                <a:sym typeface="Calibri"/>
              </a:rPr>
              <a:t>Step 1</a:t>
            </a:r>
            <a:r>
              <a:rPr lang="en"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a:p>
            <a:pPr marL="0" lvl="0" indent="0" rtl="0">
              <a:spcBef>
                <a:spcPts val="0"/>
              </a:spcBef>
              <a:spcAft>
                <a:spcPts val="0"/>
              </a:spcAft>
              <a:buNone/>
            </a:pPr>
            <a:r>
              <a:rPr lang="en" sz="1800" dirty="0">
                <a:solidFill>
                  <a:schemeClr val="dk2"/>
                </a:solidFill>
                <a:latin typeface="Calibri"/>
                <a:ea typeface="Calibri"/>
                <a:cs typeface="Calibri"/>
                <a:sym typeface="Calibri"/>
              </a:rPr>
              <a:t>Transform the “centre of visual perception” to a external 3D coordinate system (Translation).</a:t>
            </a:r>
            <a:endParaRPr sz="1800" dirty="0">
              <a:solidFill>
                <a:schemeClr val="dk2"/>
              </a:solidFill>
              <a:latin typeface="Calibri"/>
              <a:ea typeface="Calibri"/>
              <a:cs typeface="Calibri"/>
              <a:sym typeface="Calibri"/>
            </a:endParaRPr>
          </a:p>
          <a:p>
            <a:pPr marL="0" lvl="0" indent="0" rtl="0">
              <a:spcBef>
                <a:spcPts val="0"/>
              </a:spcBef>
              <a:spcAft>
                <a:spcPts val="0"/>
              </a:spcAft>
              <a:buNone/>
            </a:pPr>
            <a:endParaRPr sz="1800" dirty="0">
              <a:solidFill>
                <a:schemeClr val="dk2"/>
              </a:solidFill>
              <a:latin typeface="Calibri"/>
              <a:ea typeface="Calibri"/>
              <a:cs typeface="Calibri"/>
              <a:sym typeface="Calibri"/>
            </a:endParaRPr>
          </a:p>
          <a:p>
            <a:pPr marL="0" lvl="0" indent="0" rtl="0">
              <a:spcBef>
                <a:spcPts val="0"/>
              </a:spcBef>
              <a:spcAft>
                <a:spcPts val="0"/>
              </a:spcAft>
              <a:buNone/>
            </a:pPr>
            <a:r>
              <a:rPr lang="en" sz="1800" u="sng" dirty="0">
                <a:solidFill>
                  <a:schemeClr val="dk2"/>
                </a:solidFill>
                <a:latin typeface="Calibri"/>
                <a:ea typeface="Calibri"/>
                <a:cs typeface="Calibri"/>
                <a:sym typeface="Calibri"/>
              </a:rPr>
              <a:t>Step 2</a:t>
            </a:r>
            <a:r>
              <a:rPr lang="en"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a:p>
            <a:pPr marL="0" lvl="0" indent="0" rtl="0">
              <a:spcBef>
                <a:spcPts val="0"/>
              </a:spcBef>
              <a:spcAft>
                <a:spcPts val="0"/>
              </a:spcAft>
              <a:buNone/>
            </a:pPr>
            <a:r>
              <a:rPr lang="en" sz="1800" dirty="0">
                <a:solidFill>
                  <a:schemeClr val="dk2"/>
                </a:solidFill>
                <a:latin typeface="Calibri"/>
                <a:ea typeface="Calibri"/>
                <a:cs typeface="Calibri"/>
                <a:sym typeface="Calibri"/>
              </a:rPr>
              <a:t>Orient the coordinate system to the direction of attention (Orientation).</a:t>
            </a:r>
            <a:endParaRPr sz="1800" dirty="0">
              <a:solidFill>
                <a:schemeClr val="dk2"/>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Adding Depth</a:t>
            </a:r>
            <a:endParaRPr>
              <a:latin typeface="Calibri"/>
              <a:ea typeface="Calibri"/>
              <a:cs typeface="Calibri"/>
              <a:sym typeface="Calibri"/>
            </a:endParaRPr>
          </a:p>
        </p:txBody>
      </p:sp>
      <p:pic>
        <p:nvPicPr>
          <p:cNvPr id="126" name="Google Shape;126;p22"/>
          <p:cNvPicPr preferRelativeResize="0"/>
          <p:nvPr/>
        </p:nvPicPr>
        <p:blipFill>
          <a:blip r:embed="rId3">
            <a:alphaModFix/>
          </a:blip>
          <a:stretch>
            <a:fillRect/>
          </a:stretch>
        </p:blipFill>
        <p:spPr>
          <a:xfrm>
            <a:off x="3452078" y="1600200"/>
            <a:ext cx="2047721" cy="2971801"/>
          </a:xfrm>
          <a:prstGeom prst="rect">
            <a:avLst/>
          </a:prstGeom>
          <a:noFill/>
          <a:ln>
            <a:noFill/>
          </a:ln>
        </p:spPr>
      </p:pic>
      <p:sp>
        <p:nvSpPr>
          <p:cNvPr id="127" name="Google Shape;127;p22"/>
          <p:cNvSpPr txBox="1"/>
          <p:nvPr/>
        </p:nvSpPr>
        <p:spPr>
          <a:xfrm>
            <a:off x="463500" y="1600075"/>
            <a:ext cx="2500800" cy="2971800"/>
          </a:xfrm>
          <a:prstGeom prst="rect">
            <a:avLst/>
          </a:prstGeom>
          <a:noFill/>
          <a:ln>
            <a:noFill/>
          </a:ln>
        </p:spPr>
        <p:txBody>
          <a:bodyPr spcFirstLastPara="1" wrap="square" lIns="91425" tIns="91425" rIns="91425" bIns="91425" anchor="t" anchorCtr="0">
            <a:noAutofit/>
          </a:bodyPr>
          <a:lstStyle/>
          <a:p>
            <a:pPr marL="0" lvl="0" indent="0" rtl="0">
              <a:spcBef>
                <a:spcPts val="0"/>
              </a:spcBef>
              <a:spcAft>
                <a:spcPts val="0"/>
              </a:spcAft>
              <a:buNone/>
            </a:pPr>
            <a:r>
              <a:rPr lang="en" sz="1900" dirty="0">
                <a:solidFill>
                  <a:schemeClr val="dk2"/>
                </a:solidFill>
                <a:latin typeface="Calibri"/>
                <a:ea typeface="Calibri"/>
                <a:cs typeface="Calibri"/>
                <a:sym typeface="Calibri"/>
              </a:rPr>
              <a:t>A Pose by itself, defines a ray somewhere along which a Subject of interest lies.  </a:t>
            </a:r>
            <a:endParaRPr sz="1900" dirty="0">
              <a:solidFill>
                <a:schemeClr val="dk2"/>
              </a:solidFill>
              <a:latin typeface="Calibri"/>
              <a:ea typeface="Calibri"/>
              <a:cs typeface="Calibri"/>
              <a:sym typeface="Calibri"/>
            </a:endParaRPr>
          </a:p>
          <a:p>
            <a:pPr marL="0" lvl="0" indent="0" rtl="0">
              <a:spcBef>
                <a:spcPts val="0"/>
              </a:spcBef>
              <a:spcAft>
                <a:spcPts val="0"/>
              </a:spcAft>
              <a:buNone/>
            </a:pPr>
            <a:endParaRPr sz="1900" dirty="0">
              <a:solidFill>
                <a:schemeClr val="dk2"/>
              </a:solidFill>
              <a:latin typeface="Calibri"/>
              <a:ea typeface="Calibri"/>
              <a:cs typeface="Calibri"/>
              <a:sym typeface="Calibri"/>
            </a:endParaRPr>
          </a:p>
          <a:p>
            <a:pPr marL="0" lvl="0" indent="0" rtl="0">
              <a:spcBef>
                <a:spcPts val="0"/>
              </a:spcBef>
              <a:spcAft>
                <a:spcPts val="0"/>
              </a:spcAft>
              <a:buNone/>
            </a:pPr>
            <a:r>
              <a:rPr lang="en" sz="1900" dirty="0">
                <a:solidFill>
                  <a:schemeClr val="dk2"/>
                </a:solidFill>
                <a:latin typeface="Calibri"/>
                <a:ea typeface="Calibri"/>
                <a:cs typeface="Calibri"/>
                <a:sym typeface="Calibri"/>
              </a:rPr>
              <a:t>Adding the distance along the ray, from Observer to Subject, or Depth, gives the Position of the Subject,</a:t>
            </a:r>
            <a:endParaRPr sz="1900" dirty="0">
              <a:solidFill>
                <a:schemeClr val="dk2"/>
              </a:solidFill>
              <a:latin typeface="Calibri"/>
              <a:ea typeface="Calibri"/>
              <a:cs typeface="Calibri"/>
              <a:sym typeface="Calibri"/>
            </a:endParaRPr>
          </a:p>
        </p:txBody>
      </p:sp>
      <p:sp>
        <p:nvSpPr>
          <p:cNvPr id="128" name="Google Shape;128;p22"/>
          <p:cNvSpPr txBox="1"/>
          <p:nvPr/>
        </p:nvSpPr>
        <p:spPr>
          <a:xfrm>
            <a:off x="5919650" y="1600200"/>
            <a:ext cx="2767200" cy="2971800"/>
          </a:xfrm>
          <a:prstGeom prst="rect">
            <a:avLst/>
          </a:prstGeom>
          <a:noFill/>
          <a:ln>
            <a:noFill/>
          </a:ln>
        </p:spPr>
        <p:txBody>
          <a:bodyPr spcFirstLastPara="1" wrap="square" lIns="91425" tIns="91425" rIns="91425" bIns="91425" anchor="t" anchorCtr="0">
            <a:noAutofit/>
          </a:bodyPr>
          <a:lstStyle/>
          <a:p>
            <a:pPr marL="0" lvl="0" indent="0" rtl="0">
              <a:spcBef>
                <a:spcPts val="0"/>
              </a:spcBef>
              <a:spcAft>
                <a:spcPts val="0"/>
              </a:spcAft>
              <a:buNone/>
            </a:pPr>
            <a:r>
              <a:rPr lang="en" sz="1900" dirty="0">
                <a:solidFill>
                  <a:schemeClr val="dk2"/>
                </a:solidFill>
                <a:latin typeface="Calibri"/>
                <a:ea typeface="Calibri"/>
                <a:cs typeface="Calibri"/>
                <a:sym typeface="Calibri"/>
              </a:rPr>
              <a:t>(Optional) </a:t>
            </a:r>
            <a:r>
              <a:rPr lang="en" sz="1900" u="sng" dirty="0">
                <a:solidFill>
                  <a:schemeClr val="dk2"/>
                </a:solidFill>
                <a:latin typeface="Calibri"/>
                <a:ea typeface="Calibri"/>
                <a:cs typeface="Calibri"/>
                <a:sym typeface="Calibri"/>
              </a:rPr>
              <a:t>Step</a:t>
            </a:r>
            <a:r>
              <a:rPr lang="en" sz="1900" dirty="0">
                <a:solidFill>
                  <a:schemeClr val="dk2"/>
                </a:solidFill>
                <a:latin typeface="Calibri"/>
                <a:ea typeface="Calibri"/>
                <a:cs typeface="Calibri"/>
                <a:sym typeface="Calibri"/>
              </a:rPr>
              <a:t> 3:</a:t>
            </a:r>
            <a:endParaRPr sz="1900" dirty="0">
              <a:solidFill>
                <a:schemeClr val="dk2"/>
              </a:solidFill>
              <a:latin typeface="Calibri"/>
              <a:ea typeface="Calibri"/>
              <a:cs typeface="Calibri"/>
              <a:sym typeface="Calibri"/>
            </a:endParaRPr>
          </a:p>
          <a:p>
            <a:pPr marL="0" lvl="0" indent="0" rtl="0">
              <a:spcBef>
                <a:spcPts val="0"/>
              </a:spcBef>
              <a:spcAft>
                <a:spcPts val="0"/>
              </a:spcAft>
              <a:buNone/>
            </a:pPr>
            <a:r>
              <a:rPr lang="en" sz="1900" dirty="0">
                <a:solidFill>
                  <a:schemeClr val="dk2"/>
                </a:solidFill>
                <a:latin typeface="Calibri"/>
                <a:ea typeface="Calibri"/>
                <a:cs typeface="Calibri"/>
                <a:sym typeface="Calibri"/>
              </a:rPr>
              <a:t>Determine the distance along the direction of attention from the centre of visual perception to the Subject (Depth).</a:t>
            </a:r>
            <a:endParaRPr sz="1900" dirty="0">
              <a:solidFill>
                <a:schemeClr val="dk2"/>
              </a:solidFill>
              <a:latin typeface="Calibri"/>
              <a:ea typeface="Calibri"/>
              <a:cs typeface="Calibri"/>
              <a:sym typeface="Calibri"/>
            </a:endParaRPr>
          </a:p>
          <a:p>
            <a:pPr marL="0" lvl="0" indent="0" rtl="0">
              <a:spcBef>
                <a:spcPts val="0"/>
              </a:spcBef>
              <a:spcAft>
                <a:spcPts val="0"/>
              </a:spcAft>
              <a:buNone/>
            </a:pPr>
            <a:endParaRPr sz="1900" dirty="0">
              <a:solidFill>
                <a:schemeClr val="dk2"/>
              </a:solidFill>
              <a:latin typeface="Calibri"/>
              <a:ea typeface="Calibri"/>
              <a:cs typeface="Calibri"/>
              <a:sym typeface="Calibri"/>
            </a:endParaRPr>
          </a:p>
          <a:p>
            <a:pPr marL="0" lvl="0" indent="0" rtl="0">
              <a:spcBef>
                <a:spcPts val="0"/>
              </a:spcBef>
              <a:spcAft>
                <a:spcPts val="0"/>
              </a:spcAft>
              <a:buNone/>
            </a:pPr>
            <a:r>
              <a:rPr lang="en" sz="1900" dirty="0">
                <a:solidFill>
                  <a:schemeClr val="dk2"/>
                </a:solidFill>
                <a:latin typeface="Calibri"/>
                <a:ea typeface="Calibri"/>
                <a:cs typeface="Calibri"/>
                <a:sym typeface="Calibri"/>
              </a:rPr>
              <a:t>This step requires extra information that is often unavailable.</a:t>
            </a:r>
            <a:endParaRPr sz="19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endParaRPr>
          </a:p>
          <a:p>
            <a:pPr marL="0" lvl="0" indent="0" algn="l" rtl="0">
              <a:spcBef>
                <a:spcPts val="0"/>
              </a:spcBef>
              <a:spcAft>
                <a:spcPts val="0"/>
              </a:spcAft>
              <a:buNone/>
            </a:pPr>
            <a:endParaRPr sz="1800" dirty="0">
              <a:solidFill>
                <a:schemeClr val="dk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23"/>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SzPts val="990"/>
              <a:buNone/>
            </a:pPr>
            <a:r>
              <a:rPr lang="en" sz="4980">
                <a:latin typeface="Calibri"/>
                <a:ea typeface="Calibri"/>
                <a:cs typeface="Calibri"/>
                <a:sym typeface="Calibri"/>
              </a:rPr>
              <a:t>Three Types of Pose</a:t>
            </a:r>
            <a:endParaRPr sz="4980">
              <a:latin typeface="Calibri"/>
              <a:ea typeface="Calibri"/>
              <a:cs typeface="Calibri"/>
              <a:sym typeface="Calibri"/>
            </a:endParaRPr>
          </a:p>
        </p:txBody>
      </p:sp>
      <p:sp>
        <p:nvSpPr>
          <p:cNvPr id="134" name="Google Shape;134;p23"/>
          <p:cNvSpPr txBox="1"/>
          <p:nvPr/>
        </p:nvSpPr>
        <p:spPr>
          <a:xfrm>
            <a:off x="2964300" y="1600200"/>
            <a:ext cx="5722500" cy="3401700"/>
          </a:xfrm>
          <a:prstGeom prst="rect">
            <a:avLst/>
          </a:prstGeom>
          <a:noFill/>
          <a:ln>
            <a:noFill/>
          </a:ln>
        </p:spPr>
        <p:txBody>
          <a:bodyPr spcFirstLastPara="1" wrap="square" lIns="91425" tIns="91425" rIns="91425" bIns="91425" anchor="t" anchorCtr="0">
            <a:spAutoFit/>
          </a:bodyPr>
          <a:lstStyle/>
          <a:p>
            <a:pPr marL="0" lvl="0" indent="0" rtl="0">
              <a:spcBef>
                <a:spcPts val="0"/>
              </a:spcBef>
              <a:spcAft>
                <a:spcPts val="0"/>
              </a:spcAft>
              <a:buNone/>
            </a:pPr>
            <a:r>
              <a:rPr lang="en" sz="1900" u="sng" dirty="0">
                <a:solidFill>
                  <a:schemeClr val="dk2"/>
                </a:solidFill>
                <a:latin typeface="Calibri"/>
                <a:ea typeface="Calibri"/>
                <a:cs typeface="Calibri"/>
                <a:sym typeface="Calibri"/>
              </a:rPr>
              <a:t>Observer Pose</a:t>
            </a:r>
            <a:r>
              <a:rPr lang="en" sz="1900" dirty="0">
                <a:solidFill>
                  <a:schemeClr val="dk2"/>
                </a:solidFill>
                <a:latin typeface="Calibri"/>
                <a:ea typeface="Calibri"/>
                <a:cs typeface="Calibri"/>
                <a:sym typeface="Calibri"/>
              </a:rPr>
              <a:t> - the position and orientation of an imaging sensor or animal visual perception system.</a:t>
            </a:r>
            <a:endParaRPr sz="1900" dirty="0">
              <a:solidFill>
                <a:schemeClr val="dk2"/>
              </a:solidFill>
              <a:latin typeface="Calibri"/>
              <a:ea typeface="Calibri"/>
              <a:cs typeface="Calibri"/>
              <a:sym typeface="Calibri"/>
            </a:endParaRPr>
          </a:p>
          <a:p>
            <a:pPr marL="0" lvl="0" indent="0" rtl="0">
              <a:spcBef>
                <a:spcPts val="0"/>
              </a:spcBef>
              <a:spcAft>
                <a:spcPts val="0"/>
              </a:spcAft>
              <a:buNone/>
            </a:pPr>
            <a:endParaRPr sz="1900" dirty="0">
              <a:solidFill>
                <a:schemeClr val="dk2"/>
              </a:solidFill>
              <a:latin typeface="Calibri"/>
              <a:ea typeface="Calibri"/>
              <a:cs typeface="Calibri"/>
              <a:sym typeface="Calibri"/>
            </a:endParaRPr>
          </a:p>
          <a:p>
            <a:pPr marL="0" lvl="0" indent="0" rtl="0">
              <a:spcBef>
                <a:spcPts val="0"/>
              </a:spcBef>
              <a:spcAft>
                <a:spcPts val="0"/>
              </a:spcAft>
              <a:buNone/>
            </a:pPr>
            <a:r>
              <a:rPr lang="en" sz="1900" u="sng" dirty="0">
                <a:solidFill>
                  <a:schemeClr val="dk2"/>
                </a:solidFill>
                <a:latin typeface="Calibri"/>
                <a:ea typeface="Calibri"/>
                <a:cs typeface="Calibri"/>
                <a:sym typeface="Calibri"/>
              </a:rPr>
              <a:t>Subject Pose</a:t>
            </a:r>
            <a:r>
              <a:rPr lang="en" sz="1900" dirty="0">
                <a:solidFill>
                  <a:schemeClr val="dk2"/>
                </a:solidFill>
                <a:latin typeface="Calibri"/>
                <a:ea typeface="Calibri"/>
                <a:cs typeface="Calibri"/>
                <a:sym typeface="Calibri"/>
              </a:rPr>
              <a:t> - the orientation of a ray in the direction of a recognized viewed object (Subject) from the location of an Observer</a:t>
            </a:r>
            <a:endParaRPr sz="1900" dirty="0">
              <a:solidFill>
                <a:schemeClr val="dk2"/>
              </a:solidFill>
              <a:latin typeface="Calibri"/>
              <a:ea typeface="Calibri"/>
              <a:cs typeface="Calibri"/>
              <a:sym typeface="Calibri"/>
            </a:endParaRPr>
          </a:p>
          <a:p>
            <a:pPr marL="0" lvl="0" indent="0" rtl="0">
              <a:spcBef>
                <a:spcPts val="0"/>
              </a:spcBef>
              <a:spcAft>
                <a:spcPts val="0"/>
              </a:spcAft>
              <a:buNone/>
            </a:pPr>
            <a:endParaRPr sz="1900" dirty="0">
              <a:solidFill>
                <a:schemeClr val="dk2"/>
              </a:solidFill>
              <a:latin typeface="Calibri"/>
              <a:ea typeface="Calibri"/>
              <a:cs typeface="Calibri"/>
              <a:sym typeface="Calibri"/>
            </a:endParaRPr>
          </a:p>
          <a:p>
            <a:pPr marL="0" lvl="0" indent="0" rtl="0">
              <a:spcBef>
                <a:spcPts val="0"/>
              </a:spcBef>
              <a:spcAft>
                <a:spcPts val="0"/>
              </a:spcAft>
              <a:buNone/>
            </a:pPr>
            <a:r>
              <a:rPr lang="en" sz="1900" u="sng" dirty="0">
                <a:solidFill>
                  <a:schemeClr val="dk2"/>
                </a:solidFill>
                <a:latin typeface="Calibri"/>
                <a:ea typeface="Calibri"/>
                <a:cs typeface="Calibri"/>
                <a:sym typeface="Calibri"/>
              </a:rPr>
              <a:t>Object Pose</a:t>
            </a:r>
            <a:r>
              <a:rPr lang="en" sz="1900" dirty="0">
                <a:solidFill>
                  <a:schemeClr val="dk2"/>
                </a:solidFill>
                <a:latin typeface="Calibri"/>
                <a:ea typeface="Calibri"/>
                <a:cs typeface="Calibri"/>
                <a:sym typeface="Calibri"/>
              </a:rPr>
              <a:t> - the position and orientation of an object. Not every semantic type has an orientation independent of an Observer.</a:t>
            </a:r>
            <a:endParaRPr sz="1900" dirty="0">
              <a:solidFill>
                <a:schemeClr val="dk2"/>
              </a:solidFill>
              <a:latin typeface="Calibri"/>
              <a:ea typeface="Calibri"/>
              <a:cs typeface="Calibri"/>
              <a:sym typeface="Calibri"/>
            </a:endParaRPr>
          </a:p>
          <a:p>
            <a:pPr marL="0" lvl="0" indent="0" algn="just" rtl="0">
              <a:spcBef>
                <a:spcPts val="0"/>
              </a:spcBef>
              <a:spcAft>
                <a:spcPts val="0"/>
              </a:spcAft>
              <a:buNone/>
            </a:pPr>
            <a:endParaRPr sz="1900" dirty="0">
              <a:solidFill>
                <a:schemeClr val="dk2"/>
              </a:solidFill>
              <a:latin typeface="Calibri"/>
              <a:ea typeface="Calibri"/>
              <a:cs typeface="Calibri"/>
              <a:sym typeface="Calibri"/>
            </a:endParaRPr>
          </a:p>
        </p:txBody>
      </p:sp>
      <p:pic>
        <p:nvPicPr>
          <p:cNvPr id="135" name="Google Shape;135;p23"/>
          <p:cNvPicPr preferRelativeResize="0"/>
          <p:nvPr/>
        </p:nvPicPr>
        <p:blipFill>
          <a:blip r:embed="rId3">
            <a:alphaModFix/>
          </a:blip>
          <a:stretch>
            <a:fillRect/>
          </a:stretch>
        </p:blipFill>
        <p:spPr>
          <a:xfrm>
            <a:off x="463500" y="1616700"/>
            <a:ext cx="2028573" cy="29553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4"/>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Observer Poses</a:t>
            </a:r>
            <a:endParaRPr>
              <a:latin typeface="Calibri"/>
              <a:ea typeface="Calibri"/>
              <a:cs typeface="Calibri"/>
              <a:sym typeface="Calibri"/>
            </a:endParaRPr>
          </a:p>
        </p:txBody>
      </p:sp>
      <p:pic>
        <p:nvPicPr>
          <p:cNvPr id="141" name="Google Shape;141;p24"/>
          <p:cNvPicPr preferRelativeResize="0"/>
          <p:nvPr/>
        </p:nvPicPr>
        <p:blipFill>
          <a:blip r:embed="rId3">
            <a:alphaModFix/>
          </a:blip>
          <a:stretch>
            <a:fillRect/>
          </a:stretch>
        </p:blipFill>
        <p:spPr>
          <a:xfrm>
            <a:off x="463500" y="1600200"/>
            <a:ext cx="2988320" cy="2971800"/>
          </a:xfrm>
          <a:prstGeom prst="rect">
            <a:avLst/>
          </a:prstGeom>
          <a:noFill/>
          <a:ln>
            <a:noFill/>
          </a:ln>
        </p:spPr>
      </p:pic>
      <p:sp>
        <p:nvSpPr>
          <p:cNvPr id="142" name="Google Shape;142;p24"/>
          <p:cNvSpPr txBox="1"/>
          <p:nvPr/>
        </p:nvSpPr>
        <p:spPr>
          <a:xfrm>
            <a:off x="3935400" y="1600200"/>
            <a:ext cx="4751400" cy="3109200"/>
          </a:xfrm>
          <a:prstGeom prst="rect">
            <a:avLst/>
          </a:prstGeom>
          <a:noFill/>
          <a:ln>
            <a:noFill/>
          </a:ln>
        </p:spPr>
        <p:txBody>
          <a:bodyPr spcFirstLastPara="1" wrap="square" lIns="91425" tIns="91425" rIns="91425" bIns="91425" anchor="t" anchorCtr="0">
            <a:spAutoFit/>
          </a:bodyPr>
          <a:lstStyle/>
          <a:p>
            <a:pPr marL="0" lvl="0" indent="0" rtl="0">
              <a:spcBef>
                <a:spcPts val="0"/>
              </a:spcBef>
              <a:spcAft>
                <a:spcPts val="0"/>
              </a:spcAft>
              <a:buNone/>
            </a:pPr>
            <a:r>
              <a:rPr lang="en" sz="1900" dirty="0">
                <a:solidFill>
                  <a:schemeClr val="dk2"/>
                </a:solidFill>
                <a:latin typeface="Calibri"/>
                <a:ea typeface="Calibri"/>
                <a:cs typeface="Calibri"/>
                <a:sym typeface="Calibri"/>
              </a:rPr>
              <a:t>An Observer Pose is defined by the position of a visual system centre or an imaging sensor’s centre and the Orientation or direction of view.</a:t>
            </a:r>
            <a:endParaRPr sz="1900" dirty="0">
              <a:solidFill>
                <a:schemeClr val="dk2"/>
              </a:solidFill>
              <a:latin typeface="Calibri"/>
              <a:ea typeface="Calibri"/>
              <a:cs typeface="Calibri"/>
              <a:sym typeface="Calibri"/>
            </a:endParaRPr>
          </a:p>
          <a:p>
            <a:pPr marL="0" lvl="0" indent="0" rtl="0">
              <a:spcBef>
                <a:spcPts val="0"/>
              </a:spcBef>
              <a:spcAft>
                <a:spcPts val="0"/>
              </a:spcAft>
              <a:buNone/>
            </a:pPr>
            <a:endParaRPr sz="1900" dirty="0">
              <a:solidFill>
                <a:schemeClr val="dk2"/>
              </a:solidFill>
              <a:latin typeface="Calibri"/>
              <a:ea typeface="Calibri"/>
              <a:cs typeface="Calibri"/>
              <a:sym typeface="Calibri"/>
            </a:endParaRPr>
          </a:p>
          <a:p>
            <a:pPr marL="0" lvl="0" indent="0" rtl="0">
              <a:spcBef>
                <a:spcPts val="0"/>
              </a:spcBef>
              <a:spcAft>
                <a:spcPts val="0"/>
              </a:spcAft>
              <a:buNone/>
            </a:pPr>
            <a:r>
              <a:rPr lang="en" sz="1900" dirty="0">
                <a:solidFill>
                  <a:schemeClr val="dk2"/>
                </a:solidFill>
                <a:latin typeface="Calibri"/>
                <a:ea typeface="Calibri"/>
                <a:cs typeface="Calibri"/>
                <a:sym typeface="Calibri"/>
              </a:rPr>
              <a:t>Observer Poses are independent of the environment. They </a:t>
            </a:r>
            <a:r>
              <a:rPr lang="en" sz="1900" u="sng" dirty="0">
                <a:solidFill>
                  <a:schemeClr val="dk2"/>
                </a:solidFill>
                <a:latin typeface="Calibri"/>
                <a:ea typeface="Calibri"/>
                <a:cs typeface="Calibri"/>
                <a:sym typeface="Calibri"/>
              </a:rPr>
              <a:t>do</a:t>
            </a:r>
            <a:r>
              <a:rPr lang="en" sz="1900" dirty="0">
                <a:solidFill>
                  <a:schemeClr val="dk2"/>
                </a:solidFill>
                <a:latin typeface="Calibri"/>
                <a:ea typeface="Calibri"/>
                <a:cs typeface="Calibri"/>
                <a:sym typeface="Calibri"/>
              </a:rPr>
              <a:t> require some natural orientation of the Observer. The ocean or a tree are examples that do not. They do not have an Observer Pose.</a:t>
            </a:r>
            <a:endParaRPr sz="1900" dirty="0">
              <a:solidFill>
                <a:schemeClr val="dk2"/>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5"/>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Subject Poses</a:t>
            </a:r>
            <a:endParaRPr>
              <a:latin typeface="Calibri"/>
              <a:ea typeface="Calibri"/>
              <a:cs typeface="Calibri"/>
              <a:sym typeface="Calibri"/>
            </a:endParaRPr>
          </a:p>
        </p:txBody>
      </p:sp>
      <p:sp>
        <p:nvSpPr>
          <p:cNvPr id="148" name="Google Shape;148;p25"/>
          <p:cNvSpPr txBox="1"/>
          <p:nvPr/>
        </p:nvSpPr>
        <p:spPr>
          <a:xfrm>
            <a:off x="3433400" y="1600200"/>
            <a:ext cx="5253300" cy="3109200"/>
          </a:xfrm>
          <a:prstGeom prst="rect">
            <a:avLst/>
          </a:prstGeom>
          <a:noFill/>
          <a:ln>
            <a:noFill/>
          </a:ln>
        </p:spPr>
        <p:txBody>
          <a:bodyPr spcFirstLastPara="1" wrap="square" lIns="91425" tIns="91425" rIns="91425" bIns="91425" anchor="t" anchorCtr="0">
            <a:spAutoFit/>
          </a:bodyPr>
          <a:lstStyle/>
          <a:p>
            <a:pPr marL="0" lvl="0" indent="0" rtl="0">
              <a:spcBef>
                <a:spcPts val="0"/>
              </a:spcBef>
              <a:spcAft>
                <a:spcPts val="0"/>
              </a:spcAft>
              <a:buNone/>
            </a:pPr>
            <a:r>
              <a:rPr lang="en" sz="1900" dirty="0">
                <a:solidFill>
                  <a:schemeClr val="dk2"/>
                </a:solidFill>
                <a:latin typeface="Calibri"/>
                <a:ea typeface="Calibri"/>
                <a:cs typeface="Calibri"/>
                <a:sym typeface="Calibri"/>
              </a:rPr>
              <a:t>A Subject Pose is defined by the position of a detected object with respect to a visual system’s Orientation or direction of view.</a:t>
            </a:r>
            <a:endParaRPr sz="1900" dirty="0">
              <a:solidFill>
                <a:schemeClr val="dk2"/>
              </a:solidFill>
              <a:latin typeface="Calibri"/>
              <a:ea typeface="Calibri"/>
              <a:cs typeface="Calibri"/>
              <a:sym typeface="Calibri"/>
            </a:endParaRPr>
          </a:p>
          <a:p>
            <a:pPr marL="0" lvl="0" indent="0" rtl="0">
              <a:spcBef>
                <a:spcPts val="0"/>
              </a:spcBef>
              <a:spcAft>
                <a:spcPts val="0"/>
              </a:spcAft>
              <a:buNone/>
            </a:pPr>
            <a:endParaRPr sz="1900" dirty="0">
              <a:solidFill>
                <a:schemeClr val="dk2"/>
              </a:solidFill>
              <a:latin typeface="Calibri"/>
              <a:ea typeface="Calibri"/>
              <a:cs typeface="Calibri"/>
              <a:sym typeface="Calibri"/>
            </a:endParaRPr>
          </a:p>
          <a:p>
            <a:pPr marL="0" lvl="0" indent="0" rtl="0">
              <a:spcBef>
                <a:spcPts val="0"/>
              </a:spcBef>
              <a:spcAft>
                <a:spcPts val="0"/>
              </a:spcAft>
              <a:buNone/>
            </a:pPr>
            <a:r>
              <a:rPr lang="en" sz="1900" dirty="0">
                <a:solidFill>
                  <a:schemeClr val="dk2"/>
                </a:solidFill>
                <a:latin typeface="Calibri"/>
                <a:ea typeface="Calibri"/>
                <a:cs typeface="Calibri"/>
                <a:sym typeface="Calibri"/>
              </a:rPr>
              <a:t>In this scene, the centre of the visual system is in the Car and oriented toward the Boy. There are other detected objects in the scene (Bench, Bird, Tree…) that have the same centre but a different orientation. Those different orientations define a set of Subject Poses.</a:t>
            </a:r>
            <a:endParaRPr sz="1900" dirty="0">
              <a:solidFill>
                <a:schemeClr val="dk2"/>
              </a:solidFill>
              <a:latin typeface="Calibri"/>
              <a:ea typeface="Calibri"/>
              <a:cs typeface="Calibri"/>
              <a:sym typeface="Calibri"/>
            </a:endParaRPr>
          </a:p>
        </p:txBody>
      </p:sp>
      <p:pic>
        <p:nvPicPr>
          <p:cNvPr id="149" name="Google Shape;149;p25"/>
          <p:cNvPicPr preferRelativeResize="0"/>
          <p:nvPr/>
        </p:nvPicPr>
        <p:blipFill>
          <a:blip r:embed="rId3">
            <a:alphaModFix/>
          </a:blip>
          <a:stretch>
            <a:fillRect/>
          </a:stretch>
        </p:blipFill>
        <p:spPr>
          <a:xfrm>
            <a:off x="463500" y="1600200"/>
            <a:ext cx="2520462" cy="2971799"/>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6"/>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(Detected) Object Poses</a:t>
            </a:r>
            <a:endParaRPr>
              <a:latin typeface="Calibri"/>
              <a:ea typeface="Calibri"/>
              <a:cs typeface="Calibri"/>
              <a:sym typeface="Calibri"/>
            </a:endParaRPr>
          </a:p>
        </p:txBody>
      </p:sp>
      <p:pic>
        <p:nvPicPr>
          <p:cNvPr id="155" name="Google Shape;155;p26"/>
          <p:cNvPicPr preferRelativeResize="0"/>
          <p:nvPr/>
        </p:nvPicPr>
        <p:blipFill>
          <a:blip r:embed="rId3">
            <a:alphaModFix/>
          </a:blip>
          <a:stretch>
            <a:fillRect/>
          </a:stretch>
        </p:blipFill>
        <p:spPr>
          <a:xfrm>
            <a:off x="463500" y="1608450"/>
            <a:ext cx="1520775" cy="2971801"/>
          </a:xfrm>
          <a:prstGeom prst="rect">
            <a:avLst/>
          </a:prstGeom>
          <a:noFill/>
          <a:ln>
            <a:noFill/>
          </a:ln>
        </p:spPr>
      </p:pic>
      <p:sp>
        <p:nvSpPr>
          <p:cNvPr id="156" name="Google Shape;156;p26"/>
          <p:cNvSpPr txBox="1"/>
          <p:nvPr/>
        </p:nvSpPr>
        <p:spPr>
          <a:xfrm>
            <a:off x="3532150" y="1608450"/>
            <a:ext cx="5154600" cy="3109200"/>
          </a:xfrm>
          <a:prstGeom prst="rect">
            <a:avLst/>
          </a:prstGeom>
          <a:noFill/>
          <a:ln>
            <a:noFill/>
          </a:ln>
        </p:spPr>
        <p:txBody>
          <a:bodyPr spcFirstLastPara="1" wrap="square" lIns="91425" tIns="91425" rIns="91425" bIns="91425" anchor="t" anchorCtr="0">
            <a:spAutoFit/>
          </a:bodyPr>
          <a:lstStyle/>
          <a:p>
            <a:pPr marL="0" lvl="0" indent="0" rtl="0">
              <a:spcBef>
                <a:spcPts val="0"/>
              </a:spcBef>
              <a:spcAft>
                <a:spcPts val="0"/>
              </a:spcAft>
              <a:buClr>
                <a:schemeClr val="dk1"/>
              </a:buClr>
              <a:buSzPts val="1100"/>
              <a:buFont typeface="Arial"/>
              <a:buNone/>
            </a:pPr>
            <a:r>
              <a:rPr lang="en" sz="1900" dirty="0">
                <a:solidFill>
                  <a:schemeClr val="dk2"/>
                </a:solidFill>
                <a:latin typeface="Calibri"/>
                <a:ea typeface="Calibri"/>
                <a:cs typeface="Calibri"/>
                <a:sym typeface="Calibri"/>
              </a:rPr>
              <a:t>Objects have different semantic types when perceived by humans or detected by neural network models. Some semantic types have a natural structure that gives them both position and orientation - a natural or intrinsic Pose.</a:t>
            </a:r>
            <a:endParaRPr sz="1900" dirty="0">
              <a:solidFill>
                <a:schemeClr val="dk2"/>
              </a:solidFill>
              <a:latin typeface="Calibri"/>
              <a:ea typeface="Calibri"/>
              <a:cs typeface="Calibri"/>
              <a:sym typeface="Calibri"/>
            </a:endParaRPr>
          </a:p>
          <a:p>
            <a:pPr marL="0" lvl="0" indent="0" rtl="0">
              <a:spcBef>
                <a:spcPts val="0"/>
              </a:spcBef>
              <a:spcAft>
                <a:spcPts val="0"/>
              </a:spcAft>
              <a:buNone/>
            </a:pPr>
            <a:endParaRPr sz="1900" dirty="0">
              <a:solidFill>
                <a:schemeClr val="dk2"/>
              </a:solidFill>
              <a:latin typeface="Calibri"/>
              <a:ea typeface="Calibri"/>
              <a:cs typeface="Calibri"/>
              <a:sym typeface="Calibri"/>
            </a:endParaRPr>
          </a:p>
          <a:p>
            <a:pPr marL="0" lvl="0" indent="0" rtl="0">
              <a:spcBef>
                <a:spcPts val="0"/>
              </a:spcBef>
              <a:spcAft>
                <a:spcPts val="0"/>
              </a:spcAft>
              <a:buNone/>
            </a:pPr>
            <a:r>
              <a:rPr lang="en" sz="1900" dirty="0">
                <a:solidFill>
                  <a:schemeClr val="dk2"/>
                </a:solidFill>
                <a:latin typeface="Calibri"/>
                <a:ea typeface="Calibri"/>
                <a:cs typeface="Calibri"/>
                <a:sym typeface="Calibri"/>
              </a:rPr>
              <a:t>If an Observer can detect the natural Pose of an object (left car) while the Observer has a view of the object (right car) as a Subject, the object will have two different Poses at the same time.</a:t>
            </a:r>
            <a:endParaRPr sz="1900" dirty="0">
              <a:solidFill>
                <a:schemeClr val="dk2"/>
              </a:solidFill>
              <a:latin typeface="Calibri"/>
              <a:ea typeface="Calibri"/>
              <a:cs typeface="Calibri"/>
              <a:sym typeface="Calibri"/>
            </a:endParaRPr>
          </a:p>
        </p:txBody>
      </p:sp>
      <p:pic>
        <p:nvPicPr>
          <p:cNvPr id="157" name="Google Shape;157;p26"/>
          <p:cNvPicPr preferRelativeResize="0"/>
          <p:nvPr/>
        </p:nvPicPr>
        <p:blipFill>
          <a:blip r:embed="rId4">
            <a:alphaModFix/>
          </a:blip>
          <a:stretch>
            <a:fillRect/>
          </a:stretch>
        </p:blipFill>
        <p:spPr>
          <a:xfrm>
            <a:off x="1984275" y="1608450"/>
            <a:ext cx="1340725" cy="297179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27"/>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(Induced) Object Poses</a:t>
            </a:r>
            <a:endParaRPr>
              <a:latin typeface="Calibri"/>
              <a:ea typeface="Calibri"/>
              <a:cs typeface="Calibri"/>
              <a:sym typeface="Calibri"/>
            </a:endParaRPr>
          </a:p>
        </p:txBody>
      </p:sp>
      <p:pic>
        <p:nvPicPr>
          <p:cNvPr id="163" name="Google Shape;163;p27"/>
          <p:cNvPicPr preferRelativeResize="0"/>
          <p:nvPr/>
        </p:nvPicPr>
        <p:blipFill>
          <a:blip r:embed="rId3">
            <a:alphaModFix/>
          </a:blip>
          <a:stretch>
            <a:fillRect/>
          </a:stretch>
        </p:blipFill>
        <p:spPr>
          <a:xfrm>
            <a:off x="463500" y="1600200"/>
            <a:ext cx="1977218" cy="2971799"/>
          </a:xfrm>
          <a:prstGeom prst="rect">
            <a:avLst/>
          </a:prstGeom>
          <a:noFill/>
          <a:ln>
            <a:noFill/>
          </a:ln>
        </p:spPr>
      </p:pic>
      <p:sp>
        <p:nvSpPr>
          <p:cNvPr id="164" name="Google Shape;164;p27"/>
          <p:cNvSpPr txBox="1"/>
          <p:nvPr/>
        </p:nvSpPr>
        <p:spPr>
          <a:xfrm>
            <a:off x="2931375" y="1600200"/>
            <a:ext cx="5755500" cy="3109200"/>
          </a:xfrm>
          <a:prstGeom prst="rect">
            <a:avLst/>
          </a:prstGeom>
          <a:noFill/>
          <a:ln>
            <a:noFill/>
          </a:ln>
        </p:spPr>
        <p:txBody>
          <a:bodyPr spcFirstLastPara="1" wrap="square" lIns="91425" tIns="91425" rIns="91425" bIns="91425" anchor="t" anchorCtr="0">
            <a:spAutoFit/>
          </a:bodyPr>
          <a:lstStyle/>
          <a:p>
            <a:pPr marL="0" lvl="0" indent="0" rtl="0">
              <a:spcBef>
                <a:spcPts val="0"/>
              </a:spcBef>
              <a:spcAft>
                <a:spcPts val="0"/>
              </a:spcAft>
              <a:buNone/>
            </a:pPr>
            <a:r>
              <a:rPr lang="en" sz="1900" dirty="0">
                <a:solidFill>
                  <a:schemeClr val="dk2"/>
                </a:solidFill>
                <a:latin typeface="Calibri"/>
                <a:ea typeface="Calibri"/>
                <a:cs typeface="Calibri"/>
                <a:sym typeface="Calibri"/>
              </a:rPr>
              <a:t>Some semantic types do </a:t>
            </a:r>
            <a:r>
              <a:rPr lang="en" sz="1900" u="sng" dirty="0">
                <a:solidFill>
                  <a:schemeClr val="dk2"/>
                </a:solidFill>
                <a:latin typeface="Calibri"/>
                <a:ea typeface="Calibri"/>
                <a:cs typeface="Calibri"/>
                <a:sym typeface="Calibri"/>
              </a:rPr>
              <a:t>not</a:t>
            </a:r>
            <a:r>
              <a:rPr lang="en" sz="1900" dirty="0">
                <a:solidFill>
                  <a:schemeClr val="dk2"/>
                </a:solidFill>
                <a:latin typeface="Calibri"/>
                <a:ea typeface="Calibri"/>
                <a:cs typeface="Calibri"/>
                <a:sym typeface="Calibri"/>
              </a:rPr>
              <a:t> have a natural structure that enables them to have a corresponding natural or intrinsic Pose. </a:t>
            </a:r>
            <a:endParaRPr sz="1900" dirty="0">
              <a:solidFill>
                <a:schemeClr val="dk2"/>
              </a:solidFill>
              <a:latin typeface="Calibri"/>
              <a:ea typeface="Calibri"/>
              <a:cs typeface="Calibri"/>
              <a:sym typeface="Calibri"/>
            </a:endParaRPr>
          </a:p>
          <a:p>
            <a:pPr marL="0" lvl="0" indent="0" rtl="0">
              <a:spcBef>
                <a:spcPts val="0"/>
              </a:spcBef>
              <a:spcAft>
                <a:spcPts val="0"/>
              </a:spcAft>
              <a:buNone/>
            </a:pPr>
            <a:endParaRPr sz="1900" dirty="0">
              <a:solidFill>
                <a:schemeClr val="dk2"/>
              </a:solidFill>
              <a:latin typeface="Calibri"/>
              <a:ea typeface="Calibri"/>
              <a:cs typeface="Calibri"/>
              <a:sym typeface="Calibri"/>
            </a:endParaRPr>
          </a:p>
          <a:p>
            <a:pPr marL="0" lvl="0" indent="0" rtl="0">
              <a:spcBef>
                <a:spcPts val="0"/>
              </a:spcBef>
              <a:spcAft>
                <a:spcPts val="0"/>
              </a:spcAft>
              <a:buNone/>
            </a:pPr>
            <a:r>
              <a:rPr lang="en" sz="1900" dirty="0">
                <a:solidFill>
                  <a:schemeClr val="dk2"/>
                </a:solidFill>
                <a:latin typeface="Calibri"/>
                <a:ea typeface="Calibri"/>
                <a:cs typeface="Calibri"/>
                <a:sym typeface="Calibri"/>
              </a:rPr>
              <a:t>For example, a Tree or a Rock does not have a Pose. </a:t>
            </a:r>
            <a:endParaRPr sz="1900" dirty="0">
              <a:solidFill>
                <a:schemeClr val="dk2"/>
              </a:solidFill>
              <a:latin typeface="Calibri"/>
              <a:ea typeface="Calibri"/>
              <a:cs typeface="Calibri"/>
              <a:sym typeface="Calibri"/>
            </a:endParaRPr>
          </a:p>
          <a:p>
            <a:pPr marL="0" lvl="0" indent="0" rtl="0">
              <a:spcBef>
                <a:spcPts val="0"/>
              </a:spcBef>
              <a:spcAft>
                <a:spcPts val="0"/>
              </a:spcAft>
              <a:buNone/>
            </a:pPr>
            <a:endParaRPr sz="1900" dirty="0">
              <a:solidFill>
                <a:schemeClr val="dk2"/>
              </a:solidFill>
              <a:latin typeface="Calibri"/>
              <a:ea typeface="Calibri"/>
              <a:cs typeface="Calibri"/>
              <a:sym typeface="Calibri"/>
            </a:endParaRPr>
          </a:p>
          <a:p>
            <a:pPr marL="0" lvl="0" indent="0" rtl="0">
              <a:spcBef>
                <a:spcPts val="0"/>
              </a:spcBef>
              <a:spcAft>
                <a:spcPts val="0"/>
              </a:spcAft>
              <a:buNone/>
            </a:pPr>
            <a:r>
              <a:rPr lang="en" sz="1900" dirty="0">
                <a:solidFill>
                  <a:schemeClr val="dk2"/>
                </a:solidFill>
                <a:latin typeface="Calibri"/>
                <a:ea typeface="Calibri"/>
                <a:cs typeface="Calibri"/>
                <a:sym typeface="Calibri"/>
              </a:rPr>
              <a:t>An Observer can </a:t>
            </a:r>
            <a:r>
              <a:rPr lang="en" sz="1900" i="1" dirty="0">
                <a:solidFill>
                  <a:schemeClr val="dk2"/>
                </a:solidFill>
                <a:latin typeface="Calibri"/>
                <a:ea typeface="Calibri"/>
                <a:cs typeface="Calibri"/>
                <a:sym typeface="Calibri"/>
              </a:rPr>
              <a:t>induce</a:t>
            </a:r>
            <a:r>
              <a:rPr lang="en" sz="1900" dirty="0">
                <a:solidFill>
                  <a:schemeClr val="dk2"/>
                </a:solidFill>
                <a:latin typeface="Calibri"/>
                <a:ea typeface="Calibri"/>
                <a:cs typeface="Calibri"/>
                <a:sym typeface="Calibri"/>
              </a:rPr>
              <a:t> an Orientation, based on the direction toward the observer. This induced Object Pose is only meaningful when the Observer position is also specified.</a:t>
            </a:r>
            <a:endParaRPr sz="1900" dirty="0">
              <a:solidFill>
                <a:schemeClr val="dk2"/>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C4432CBA-979C-75B0-6714-B9D29BD80546}"/>
            </a:ext>
          </a:extLst>
        </p:cNvPr>
        <p:cNvGrpSpPr/>
        <p:nvPr/>
      </p:nvGrpSpPr>
      <p:grpSpPr>
        <a:xfrm>
          <a:off x="0" y="0"/>
          <a:ext cx="0" cy="0"/>
          <a:chOff x="0" y="0"/>
          <a:chExt cx="0" cy="0"/>
        </a:xfrm>
      </p:grpSpPr>
      <p:sp>
        <p:nvSpPr>
          <p:cNvPr id="125" name="Google Shape;125;p22">
            <a:extLst>
              <a:ext uri="{FF2B5EF4-FFF2-40B4-BE49-F238E27FC236}">
                <a16:creationId xmlns:a16="http://schemas.microsoft.com/office/drawing/2014/main" id="{CC4C5394-8E02-644F-F53A-7BF1311F3A60}"/>
              </a:ext>
            </a:extLst>
          </p:cNvPr>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latin typeface="Calibri"/>
                <a:ea typeface="Calibri"/>
                <a:cs typeface="Calibri"/>
                <a:sym typeface="Calibri"/>
              </a:rPr>
              <a:t>Four Abstract Use Cases</a:t>
            </a:r>
            <a:endParaRPr dirty="0">
              <a:latin typeface="Calibri"/>
              <a:ea typeface="Calibri"/>
              <a:cs typeface="Calibri"/>
              <a:sym typeface="Calibri"/>
            </a:endParaRPr>
          </a:p>
        </p:txBody>
      </p:sp>
      <p:sp>
        <p:nvSpPr>
          <p:cNvPr id="127" name="Google Shape;127;p22">
            <a:extLst>
              <a:ext uri="{FF2B5EF4-FFF2-40B4-BE49-F238E27FC236}">
                <a16:creationId xmlns:a16="http://schemas.microsoft.com/office/drawing/2014/main" id="{F38E9041-10AF-E7FD-BAA9-9804A1F032A1}"/>
              </a:ext>
            </a:extLst>
          </p:cNvPr>
          <p:cNvSpPr txBox="1"/>
          <p:nvPr/>
        </p:nvSpPr>
        <p:spPr>
          <a:xfrm>
            <a:off x="463500" y="1600075"/>
            <a:ext cx="2500800" cy="2971800"/>
          </a:xfrm>
          <a:prstGeom prst="rect">
            <a:avLst/>
          </a:prstGeom>
          <a:noFill/>
          <a:ln>
            <a:noFill/>
          </a:ln>
        </p:spPr>
        <p:txBody>
          <a:bodyPr spcFirstLastPara="1" wrap="square" lIns="91425" tIns="91425" rIns="91425" bIns="91425" anchor="t" anchorCtr="0">
            <a:noAutofit/>
          </a:bodyPr>
          <a:lstStyle/>
          <a:p>
            <a:pPr marL="0" lvl="0" indent="0" rtl="0">
              <a:spcBef>
                <a:spcPts val="0"/>
              </a:spcBef>
              <a:spcAft>
                <a:spcPts val="0"/>
              </a:spcAft>
              <a:buNone/>
            </a:pPr>
            <a:r>
              <a:rPr lang="en-US" sz="1900" dirty="0">
                <a:solidFill>
                  <a:schemeClr val="dk2"/>
                </a:solidFill>
                <a:latin typeface="Calibri"/>
                <a:ea typeface="Calibri"/>
                <a:cs typeface="Calibri"/>
                <a:sym typeface="Calibri"/>
              </a:rPr>
              <a:t>There are four stereotypical use cases where a construct related to pose appears: </a:t>
            </a:r>
          </a:p>
          <a:p>
            <a:pPr marL="342900" lvl="0" indent="-342900" rtl="0">
              <a:spcBef>
                <a:spcPts val="0"/>
              </a:spcBef>
              <a:spcAft>
                <a:spcPts val="0"/>
              </a:spcAft>
              <a:buFont typeface="Arial" panose="020B0604020202020204" pitchFamily="34" charset="0"/>
              <a:buChar char="•"/>
            </a:pPr>
            <a:r>
              <a:rPr lang="en-US" sz="1900" dirty="0">
                <a:solidFill>
                  <a:schemeClr val="dk2"/>
                </a:solidFill>
                <a:latin typeface="Calibri"/>
                <a:ea typeface="Calibri"/>
                <a:cs typeface="Calibri"/>
                <a:sym typeface="Calibri"/>
              </a:rPr>
              <a:t>pointing, </a:t>
            </a:r>
          </a:p>
          <a:p>
            <a:pPr marL="342900" lvl="0" indent="-342900" rtl="0">
              <a:spcBef>
                <a:spcPts val="0"/>
              </a:spcBef>
              <a:spcAft>
                <a:spcPts val="0"/>
              </a:spcAft>
              <a:buFont typeface="Arial" panose="020B0604020202020204" pitchFamily="34" charset="0"/>
              <a:buChar char="•"/>
            </a:pPr>
            <a:r>
              <a:rPr lang="en-US" sz="1900" dirty="0">
                <a:solidFill>
                  <a:schemeClr val="dk2"/>
                </a:solidFill>
                <a:latin typeface="Calibri"/>
                <a:ea typeface="Calibri"/>
                <a:cs typeface="Calibri"/>
                <a:sym typeface="Calibri"/>
              </a:rPr>
              <a:t>posing, </a:t>
            </a:r>
          </a:p>
          <a:p>
            <a:pPr marL="342900" lvl="0" indent="-342900" rtl="0">
              <a:spcBef>
                <a:spcPts val="0"/>
              </a:spcBef>
              <a:spcAft>
                <a:spcPts val="0"/>
              </a:spcAft>
              <a:buFont typeface="Arial" panose="020B0604020202020204" pitchFamily="34" charset="0"/>
              <a:buChar char="•"/>
            </a:pPr>
            <a:r>
              <a:rPr lang="en-US" sz="1900" dirty="0">
                <a:solidFill>
                  <a:schemeClr val="dk2"/>
                </a:solidFill>
                <a:latin typeface="Calibri"/>
                <a:ea typeface="Calibri"/>
                <a:cs typeface="Calibri"/>
                <a:sym typeface="Calibri"/>
              </a:rPr>
              <a:t>touching, and</a:t>
            </a:r>
          </a:p>
          <a:p>
            <a:pPr marL="342900" lvl="0" indent="-342900" rtl="0">
              <a:spcBef>
                <a:spcPts val="0"/>
              </a:spcBef>
              <a:spcAft>
                <a:spcPts val="0"/>
              </a:spcAft>
              <a:buFont typeface="Arial" panose="020B0604020202020204" pitchFamily="34" charset="0"/>
              <a:buChar char="•"/>
            </a:pPr>
            <a:r>
              <a:rPr lang="en-US" sz="1900" dirty="0">
                <a:solidFill>
                  <a:schemeClr val="dk2"/>
                </a:solidFill>
                <a:latin typeface="Calibri"/>
                <a:ea typeface="Calibri"/>
                <a:cs typeface="Calibri"/>
                <a:sym typeface="Calibri"/>
              </a:rPr>
              <a:t>connecting.</a:t>
            </a:r>
          </a:p>
          <a:p>
            <a:pPr lvl="0" rtl="0">
              <a:spcBef>
                <a:spcPts val="0"/>
              </a:spcBef>
              <a:spcAft>
                <a:spcPts val="0"/>
              </a:spcAft>
            </a:pPr>
            <a:endParaRPr lang="en-US" sz="1900" dirty="0">
              <a:solidFill>
                <a:schemeClr val="dk2"/>
              </a:solidFill>
              <a:latin typeface="Calibri"/>
              <a:ea typeface="Calibri"/>
              <a:cs typeface="Calibri"/>
              <a:sym typeface="Calibri"/>
            </a:endParaRPr>
          </a:p>
          <a:p>
            <a:pPr marL="342900" lvl="0" indent="-342900" algn="just" rtl="0">
              <a:spcBef>
                <a:spcPts val="0"/>
              </a:spcBef>
              <a:spcAft>
                <a:spcPts val="0"/>
              </a:spcAft>
              <a:buFont typeface="Arial" panose="020B0604020202020204" pitchFamily="34" charset="0"/>
              <a:buChar char="•"/>
            </a:pPr>
            <a:endParaRPr sz="1900" dirty="0">
              <a:solidFill>
                <a:schemeClr val="dk2"/>
              </a:solidFill>
              <a:latin typeface="Calibri"/>
              <a:ea typeface="Calibri"/>
              <a:cs typeface="Calibri"/>
              <a:sym typeface="Calibri"/>
            </a:endParaRPr>
          </a:p>
          <a:p>
            <a:pPr marL="0" lvl="0" indent="0" algn="just" rtl="0">
              <a:spcBef>
                <a:spcPts val="0"/>
              </a:spcBef>
              <a:spcAft>
                <a:spcPts val="0"/>
              </a:spcAft>
              <a:buNone/>
            </a:pPr>
            <a:endParaRPr sz="1900" dirty="0">
              <a:solidFill>
                <a:schemeClr val="dk2"/>
              </a:solidFill>
              <a:latin typeface="Calibri"/>
              <a:ea typeface="Calibri"/>
              <a:cs typeface="Calibri"/>
              <a:sym typeface="Calibri"/>
            </a:endParaRPr>
          </a:p>
        </p:txBody>
      </p:sp>
      <p:sp>
        <p:nvSpPr>
          <p:cNvPr id="128" name="Google Shape;128;p22">
            <a:extLst>
              <a:ext uri="{FF2B5EF4-FFF2-40B4-BE49-F238E27FC236}">
                <a16:creationId xmlns:a16="http://schemas.microsoft.com/office/drawing/2014/main" id="{1E53FEE5-F975-AD4D-4672-F879B58A13C6}"/>
              </a:ext>
            </a:extLst>
          </p:cNvPr>
          <p:cNvSpPr txBox="1"/>
          <p:nvPr/>
        </p:nvSpPr>
        <p:spPr>
          <a:xfrm>
            <a:off x="5919600" y="1600075"/>
            <a:ext cx="2767200" cy="297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800" dirty="0">
              <a:solidFill>
                <a:schemeClr val="dk2"/>
              </a:solidFill>
            </a:endParaRPr>
          </a:p>
          <a:p>
            <a:pPr marL="0" lvl="0" indent="0" algn="l" rtl="0">
              <a:spcBef>
                <a:spcPts val="0"/>
              </a:spcBef>
              <a:spcAft>
                <a:spcPts val="0"/>
              </a:spcAft>
              <a:buNone/>
            </a:pPr>
            <a:r>
              <a:rPr lang="en-US" sz="1800" dirty="0">
                <a:solidFill>
                  <a:schemeClr val="dk2"/>
                </a:solidFill>
              </a:rPr>
              <a:t>These involve different degrees of freedom – specification of parameters – and reflect the application with visual or instrumented sensors.</a:t>
            </a:r>
            <a:endParaRPr sz="1800" dirty="0">
              <a:solidFill>
                <a:schemeClr val="dk2"/>
              </a:solidFill>
            </a:endParaRPr>
          </a:p>
        </p:txBody>
      </p:sp>
      <p:pic>
        <p:nvPicPr>
          <p:cNvPr id="3" name="Picture 2">
            <a:extLst>
              <a:ext uri="{FF2B5EF4-FFF2-40B4-BE49-F238E27FC236}">
                <a16:creationId xmlns:a16="http://schemas.microsoft.com/office/drawing/2014/main" id="{A0F4306D-806A-20C5-2016-771C3ED8FA1B}"/>
              </a:ext>
            </a:extLst>
          </p:cNvPr>
          <p:cNvPicPr>
            <a:picLocks noChangeAspect="1"/>
          </p:cNvPicPr>
          <p:nvPr/>
        </p:nvPicPr>
        <p:blipFill>
          <a:blip r:embed="rId3"/>
          <a:stretch>
            <a:fillRect/>
          </a:stretch>
        </p:blipFill>
        <p:spPr>
          <a:xfrm>
            <a:off x="2964300" y="1633538"/>
            <a:ext cx="1103302" cy="1596317"/>
          </a:xfrm>
          <a:prstGeom prst="rect">
            <a:avLst/>
          </a:prstGeom>
        </p:spPr>
      </p:pic>
      <p:pic>
        <p:nvPicPr>
          <p:cNvPr id="5" name="Picture 4">
            <a:extLst>
              <a:ext uri="{FF2B5EF4-FFF2-40B4-BE49-F238E27FC236}">
                <a16:creationId xmlns:a16="http://schemas.microsoft.com/office/drawing/2014/main" id="{7C484E1C-F3DC-1D11-39E8-F119F547F441}"/>
              </a:ext>
            </a:extLst>
          </p:cNvPr>
          <p:cNvPicPr>
            <a:picLocks noChangeAspect="1"/>
          </p:cNvPicPr>
          <p:nvPr/>
        </p:nvPicPr>
        <p:blipFill>
          <a:blip r:embed="rId4"/>
          <a:stretch>
            <a:fillRect/>
          </a:stretch>
        </p:blipFill>
        <p:spPr>
          <a:xfrm>
            <a:off x="4099408" y="1621614"/>
            <a:ext cx="1766819" cy="1156409"/>
          </a:xfrm>
          <a:prstGeom prst="rect">
            <a:avLst/>
          </a:prstGeom>
        </p:spPr>
      </p:pic>
      <p:pic>
        <p:nvPicPr>
          <p:cNvPr id="7" name="Picture 6">
            <a:extLst>
              <a:ext uri="{FF2B5EF4-FFF2-40B4-BE49-F238E27FC236}">
                <a16:creationId xmlns:a16="http://schemas.microsoft.com/office/drawing/2014/main" id="{E6B63A7E-DDD6-6261-4FD6-DFA263208993}"/>
              </a:ext>
            </a:extLst>
          </p:cNvPr>
          <p:cNvPicPr>
            <a:picLocks noChangeAspect="1"/>
          </p:cNvPicPr>
          <p:nvPr/>
        </p:nvPicPr>
        <p:blipFill>
          <a:blip r:embed="rId5"/>
          <a:stretch>
            <a:fillRect/>
          </a:stretch>
        </p:blipFill>
        <p:spPr>
          <a:xfrm>
            <a:off x="3931922" y="2584198"/>
            <a:ext cx="1987678" cy="1987678"/>
          </a:xfrm>
          <a:prstGeom prst="rect">
            <a:avLst/>
          </a:prstGeom>
        </p:spPr>
      </p:pic>
      <p:pic>
        <p:nvPicPr>
          <p:cNvPr id="9" name="Picture 8">
            <a:extLst>
              <a:ext uri="{FF2B5EF4-FFF2-40B4-BE49-F238E27FC236}">
                <a16:creationId xmlns:a16="http://schemas.microsoft.com/office/drawing/2014/main" id="{95E7067E-BD11-6E34-179A-F65AA4F1D1EA}"/>
              </a:ext>
            </a:extLst>
          </p:cNvPr>
          <p:cNvPicPr>
            <a:picLocks noChangeAspect="1"/>
          </p:cNvPicPr>
          <p:nvPr/>
        </p:nvPicPr>
        <p:blipFill>
          <a:blip r:embed="rId6"/>
          <a:stretch>
            <a:fillRect/>
          </a:stretch>
        </p:blipFill>
        <p:spPr>
          <a:xfrm>
            <a:off x="2964301" y="3228278"/>
            <a:ext cx="967620" cy="1355069"/>
          </a:xfrm>
          <a:prstGeom prst="rect">
            <a:avLst/>
          </a:prstGeom>
        </p:spPr>
      </p:pic>
    </p:spTree>
    <p:extLst>
      <p:ext uri="{BB962C8B-B14F-4D97-AF65-F5344CB8AC3E}">
        <p14:creationId xmlns:p14="http://schemas.microsoft.com/office/powerpoint/2010/main" val="38742658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84CEECE0-CE34-8F20-9D16-1D66492496E2}"/>
            </a:ext>
          </a:extLst>
        </p:cNvPr>
        <p:cNvGrpSpPr/>
        <p:nvPr/>
      </p:nvGrpSpPr>
      <p:grpSpPr>
        <a:xfrm>
          <a:off x="0" y="0"/>
          <a:ext cx="0" cy="0"/>
          <a:chOff x="0" y="0"/>
          <a:chExt cx="0" cy="0"/>
        </a:xfrm>
      </p:grpSpPr>
      <p:sp>
        <p:nvSpPr>
          <p:cNvPr id="125" name="Google Shape;125;p22">
            <a:extLst>
              <a:ext uri="{FF2B5EF4-FFF2-40B4-BE49-F238E27FC236}">
                <a16:creationId xmlns:a16="http://schemas.microsoft.com/office/drawing/2014/main" id="{3FA07B5E-B994-70EA-1A81-09DC1A71766B}"/>
              </a:ext>
            </a:extLst>
          </p:cNvPr>
          <p:cNvSpPr txBox="1">
            <a:spLocks noGrp="1"/>
          </p:cNvSpPr>
          <p:nvPr>
            <p:ph type="ctrTitle"/>
          </p:nvPr>
        </p:nvSpPr>
        <p:spPr>
          <a:xfrm>
            <a:off x="182880" y="744575"/>
            <a:ext cx="8757138"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latin typeface="Calibri"/>
                <a:ea typeface="Calibri"/>
                <a:cs typeface="Calibri"/>
                <a:sym typeface="Calibri"/>
              </a:rPr>
              <a:t>Why Are the Use Cases Important?</a:t>
            </a:r>
            <a:endParaRPr dirty="0">
              <a:latin typeface="Calibri"/>
              <a:ea typeface="Calibri"/>
              <a:cs typeface="Calibri"/>
              <a:sym typeface="Calibri"/>
            </a:endParaRPr>
          </a:p>
        </p:txBody>
      </p:sp>
      <p:sp>
        <p:nvSpPr>
          <p:cNvPr id="127" name="Google Shape;127;p22">
            <a:extLst>
              <a:ext uri="{FF2B5EF4-FFF2-40B4-BE49-F238E27FC236}">
                <a16:creationId xmlns:a16="http://schemas.microsoft.com/office/drawing/2014/main" id="{B44B21F8-75E7-FFB3-F72C-B0EDD1D5F5F1}"/>
              </a:ext>
            </a:extLst>
          </p:cNvPr>
          <p:cNvSpPr txBox="1"/>
          <p:nvPr/>
        </p:nvSpPr>
        <p:spPr>
          <a:xfrm>
            <a:off x="463500" y="1600075"/>
            <a:ext cx="2500800" cy="2971800"/>
          </a:xfrm>
          <a:prstGeom prst="rect">
            <a:avLst/>
          </a:prstGeom>
          <a:noFill/>
          <a:ln>
            <a:noFill/>
          </a:ln>
        </p:spPr>
        <p:txBody>
          <a:bodyPr spcFirstLastPara="1" wrap="square" lIns="91425" tIns="91425" rIns="91425" bIns="91425" anchor="t" anchorCtr="0">
            <a:noAutofit/>
          </a:bodyPr>
          <a:lstStyle/>
          <a:p>
            <a:pPr marL="0" lvl="0" indent="0" rtl="0">
              <a:spcBef>
                <a:spcPts val="0"/>
              </a:spcBef>
              <a:spcAft>
                <a:spcPts val="0"/>
              </a:spcAft>
              <a:buNone/>
            </a:pPr>
            <a:r>
              <a:rPr lang="en-US" sz="1900" dirty="0">
                <a:solidFill>
                  <a:schemeClr val="dk2"/>
                </a:solidFill>
                <a:latin typeface="Calibri"/>
                <a:ea typeface="Calibri"/>
                <a:cs typeface="Calibri"/>
                <a:sym typeface="Calibri"/>
              </a:rPr>
              <a:t>The use cases represent the ways humans (and automata) use poses and related constructs in practice.</a:t>
            </a:r>
          </a:p>
          <a:p>
            <a:pPr marL="0" lvl="0" indent="0" rtl="0">
              <a:spcBef>
                <a:spcPts val="0"/>
              </a:spcBef>
              <a:spcAft>
                <a:spcPts val="0"/>
              </a:spcAft>
              <a:buNone/>
            </a:pPr>
            <a:r>
              <a:rPr lang="en-US" sz="1900" dirty="0">
                <a:solidFill>
                  <a:schemeClr val="dk2"/>
                </a:solidFill>
                <a:latin typeface="Calibri"/>
                <a:ea typeface="Calibri"/>
                <a:cs typeface="Calibri"/>
                <a:sym typeface="Calibri"/>
              </a:rPr>
              <a:t>For example, many uses assume that one direction of orientation is defined, for example</a:t>
            </a:r>
            <a:endParaRPr sz="1900" dirty="0">
              <a:solidFill>
                <a:schemeClr val="dk2"/>
              </a:solidFill>
              <a:latin typeface="Calibri"/>
              <a:ea typeface="Calibri"/>
              <a:cs typeface="Calibri"/>
              <a:sym typeface="Calibri"/>
            </a:endParaRPr>
          </a:p>
          <a:p>
            <a:pPr marL="0" lvl="0" indent="0" algn="just" rtl="0">
              <a:spcBef>
                <a:spcPts val="0"/>
              </a:spcBef>
              <a:spcAft>
                <a:spcPts val="0"/>
              </a:spcAft>
              <a:buNone/>
            </a:pPr>
            <a:endParaRPr sz="1900" dirty="0">
              <a:solidFill>
                <a:schemeClr val="dk2"/>
              </a:solidFill>
              <a:latin typeface="Calibri"/>
              <a:ea typeface="Calibri"/>
              <a:cs typeface="Calibri"/>
              <a:sym typeface="Calibri"/>
            </a:endParaRPr>
          </a:p>
        </p:txBody>
      </p:sp>
      <p:sp>
        <p:nvSpPr>
          <p:cNvPr id="128" name="Google Shape;128;p22">
            <a:extLst>
              <a:ext uri="{FF2B5EF4-FFF2-40B4-BE49-F238E27FC236}">
                <a16:creationId xmlns:a16="http://schemas.microsoft.com/office/drawing/2014/main" id="{AE324382-3087-CBE5-8FCE-68FA0DB17A64}"/>
              </a:ext>
            </a:extLst>
          </p:cNvPr>
          <p:cNvSpPr txBox="1"/>
          <p:nvPr/>
        </p:nvSpPr>
        <p:spPr>
          <a:xfrm>
            <a:off x="5919650" y="1600200"/>
            <a:ext cx="2767200" cy="297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800" dirty="0">
                <a:solidFill>
                  <a:schemeClr val="dk2"/>
                </a:solidFill>
              </a:rPr>
              <a:t>a horizontal plane orthogonal to the direction of gravitational acceleration. In this case, there are only two degrees of orientational freedom: altitude and azimuth, for example.</a:t>
            </a:r>
          </a:p>
          <a:p>
            <a:pPr marL="0" lvl="0" indent="0" algn="l" rtl="0">
              <a:spcBef>
                <a:spcPts val="0"/>
              </a:spcBef>
              <a:spcAft>
                <a:spcPts val="0"/>
              </a:spcAft>
              <a:buNone/>
            </a:pPr>
            <a:endParaRPr sz="1800" dirty="0">
              <a:solidFill>
                <a:schemeClr val="dk2"/>
              </a:solidFill>
            </a:endParaRPr>
          </a:p>
          <a:p>
            <a:pPr marL="0" lvl="0" indent="0" algn="l" rtl="0">
              <a:spcBef>
                <a:spcPts val="0"/>
              </a:spcBef>
              <a:spcAft>
                <a:spcPts val="0"/>
              </a:spcAft>
              <a:buNone/>
            </a:pPr>
            <a:endParaRPr sz="1800" dirty="0">
              <a:solidFill>
                <a:schemeClr val="dk2"/>
              </a:solidFill>
            </a:endParaRPr>
          </a:p>
        </p:txBody>
      </p:sp>
      <p:pic>
        <p:nvPicPr>
          <p:cNvPr id="2" name="Picture 1">
            <a:extLst>
              <a:ext uri="{FF2B5EF4-FFF2-40B4-BE49-F238E27FC236}">
                <a16:creationId xmlns:a16="http://schemas.microsoft.com/office/drawing/2014/main" id="{C75687B0-B583-F4A5-A8B7-D2EFB626D79B}"/>
              </a:ext>
            </a:extLst>
          </p:cNvPr>
          <p:cNvPicPr>
            <a:picLocks noChangeAspect="1"/>
          </p:cNvPicPr>
          <p:nvPr/>
        </p:nvPicPr>
        <p:blipFill>
          <a:blip r:embed="rId3"/>
          <a:stretch>
            <a:fillRect/>
          </a:stretch>
        </p:blipFill>
        <p:spPr>
          <a:xfrm>
            <a:off x="2964300" y="1633538"/>
            <a:ext cx="1103302" cy="1596317"/>
          </a:xfrm>
          <a:prstGeom prst="rect">
            <a:avLst/>
          </a:prstGeom>
        </p:spPr>
      </p:pic>
      <p:pic>
        <p:nvPicPr>
          <p:cNvPr id="3" name="Picture 2">
            <a:extLst>
              <a:ext uri="{FF2B5EF4-FFF2-40B4-BE49-F238E27FC236}">
                <a16:creationId xmlns:a16="http://schemas.microsoft.com/office/drawing/2014/main" id="{BBB28E43-CE9C-2BAD-D803-6AFD32D77D35}"/>
              </a:ext>
            </a:extLst>
          </p:cNvPr>
          <p:cNvPicPr>
            <a:picLocks noChangeAspect="1"/>
          </p:cNvPicPr>
          <p:nvPr/>
        </p:nvPicPr>
        <p:blipFill>
          <a:blip r:embed="rId4"/>
          <a:stretch>
            <a:fillRect/>
          </a:stretch>
        </p:blipFill>
        <p:spPr>
          <a:xfrm>
            <a:off x="4099408" y="1621614"/>
            <a:ext cx="1766819" cy="1156409"/>
          </a:xfrm>
          <a:prstGeom prst="rect">
            <a:avLst/>
          </a:prstGeom>
        </p:spPr>
      </p:pic>
      <p:pic>
        <p:nvPicPr>
          <p:cNvPr id="4" name="Picture 3">
            <a:extLst>
              <a:ext uri="{FF2B5EF4-FFF2-40B4-BE49-F238E27FC236}">
                <a16:creationId xmlns:a16="http://schemas.microsoft.com/office/drawing/2014/main" id="{CE23DE98-17F3-E63F-3EF7-5B18D51F40A2}"/>
              </a:ext>
            </a:extLst>
          </p:cNvPr>
          <p:cNvPicPr>
            <a:picLocks noChangeAspect="1"/>
          </p:cNvPicPr>
          <p:nvPr/>
        </p:nvPicPr>
        <p:blipFill>
          <a:blip r:embed="rId5"/>
          <a:stretch>
            <a:fillRect/>
          </a:stretch>
        </p:blipFill>
        <p:spPr>
          <a:xfrm>
            <a:off x="3931922" y="2584198"/>
            <a:ext cx="1987678" cy="1987678"/>
          </a:xfrm>
          <a:prstGeom prst="rect">
            <a:avLst/>
          </a:prstGeom>
        </p:spPr>
      </p:pic>
      <p:pic>
        <p:nvPicPr>
          <p:cNvPr id="5" name="Picture 4">
            <a:extLst>
              <a:ext uri="{FF2B5EF4-FFF2-40B4-BE49-F238E27FC236}">
                <a16:creationId xmlns:a16="http://schemas.microsoft.com/office/drawing/2014/main" id="{C0A90FD5-6E9A-F364-1DEC-1907EF81AB96}"/>
              </a:ext>
            </a:extLst>
          </p:cNvPr>
          <p:cNvPicPr>
            <a:picLocks noChangeAspect="1"/>
          </p:cNvPicPr>
          <p:nvPr/>
        </p:nvPicPr>
        <p:blipFill>
          <a:blip r:embed="rId6"/>
          <a:stretch>
            <a:fillRect/>
          </a:stretch>
        </p:blipFill>
        <p:spPr>
          <a:xfrm>
            <a:off x="2964301" y="3228278"/>
            <a:ext cx="967620" cy="1355069"/>
          </a:xfrm>
          <a:prstGeom prst="rect">
            <a:avLst/>
          </a:prstGeom>
        </p:spPr>
      </p:pic>
    </p:spTree>
    <p:extLst>
      <p:ext uri="{BB962C8B-B14F-4D97-AF65-F5344CB8AC3E}">
        <p14:creationId xmlns:p14="http://schemas.microsoft.com/office/powerpoint/2010/main" val="7026809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4EE4A804-0B3D-2F36-AEEE-82CDFBD96144}"/>
            </a:ext>
          </a:extLst>
        </p:cNvPr>
        <p:cNvGrpSpPr/>
        <p:nvPr/>
      </p:nvGrpSpPr>
      <p:grpSpPr>
        <a:xfrm>
          <a:off x="0" y="0"/>
          <a:ext cx="0" cy="0"/>
          <a:chOff x="0" y="0"/>
          <a:chExt cx="0" cy="0"/>
        </a:xfrm>
      </p:grpSpPr>
      <p:sp>
        <p:nvSpPr>
          <p:cNvPr id="125" name="Google Shape;125;p22">
            <a:extLst>
              <a:ext uri="{FF2B5EF4-FFF2-40B4-BE49-F238E27FC236}">
                <a16:creationId xmlns:a16="http://schemas.microsoft.com/office/drawing/2014/main" id="{33B9F194-E708-9D4C-A73B-177DA029BC2A}"/>
              </a:ext>
            </a:extLst>
          </p:cNvPr>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latin typeface="Calibri"/>
                <a:ea typeface="Calibri"/>
                <a:cs typeface="Calibri"/>
                <a:sym typeface="Calibri"/>
              </a:rPr>
              <a:t>Pointing</a:t>
            </a:r>
            <a:endParaRPr dirty="0">
              <a:latin typeface="Calibri"/>
              <a:ea typeface="Calibri"/>
              <a:cs typeface="Calibri"/>
              <a:sym typeface="Calibri"/>
            </a:endParaRPr>
          </a:p>
        </p:txBody>
      </p:sp>
      <p:sp>
        <p:nvSpPr>
          <p:cNvPr id="127" name="Google Shape;127;p22">
            <a:extLst>
              <a:ext uri="{FF2B5EF4-FFF2-40B4-BE49-F238E27FC236}">
                <a16:creationId xmlns:a16="http://schemas.microsoft.com/office/drawing/2014/main" id="{43B2E8B6-0A8F-34D2-7EDB-B5B63D5B3ACC}"/>
              </a:ext>
            </a:extLst>
          </p:cNvPr>
          <p:cNvSpPr txBox="1"/>
          <p:nvPr/>
        </p:nvSpPr>
        <p:spPr>
          <a:xfrm>
            <a:off x="463500" y="1600075"/>
            <a:ext cx="2500800" cy="2971800"/>
          </a:xfrm>
          <a:prstGeom prst="rect">
            <a:avLst/>
          </a:prstGeom>
          <a:noFill/>
          <a:ln>
            <a:noFill/>
          </a:ln>
        </p:spPr>
        <p:txBody>
          <a:bodyPr spcFirstLastPara="1" wrap="square" lIns="91425" tIns="91425" rIns="91425" bIns="91425" anchor="t" anchorCtr="0">
            <a:noAutofit/>
          </a:bodyPr>
          <a:lstStyle/>
          <a:p>
            <a:pPr marL="0" lvl="0" indent="0" rtl="0">
              <a:spcBef>
                <a:spcPts val="0"/>
              </a:spcBef>
              <a:spcAft>
                <a:spcPts val="0"/>
              </a:spcAft>
              <a:buNone/>
            </a:pPr>
            <a:r>
              <a:rPr lang="en-US" sz="1900" dirty="0">
                <a:solidFill>
                  <a:schemeClr val="dk2"/>
                </a:solidFill>
                <a:latin typeface="Calibri"/>
                <a:ea typeface="Calibri"/>
                <a:cs typeface="Calibri"/>
                <a:sym typeface="Calibri"/>
              </a:rPr>
              <a:t>Pointing defines fewer than 3 degrees of freedom in orientation.</a:t>
            </a:r>
          </a:p>
          <a:p>
            <a:pPr marL="0" lvl="0" indent="0" rtl="0">
              <a:spcBef>
                <a:spcPts val="0"/>
              </a:spcBef>
              <a:spcAft>
                <a:spcPts val="0"/>
              </a:spcAft>
              <a:buNone/>
            </a:pPr>
            <a:r>
              <a:rPr lang="en-US" sz="1900" dirty="0">
                <a:solidFill>
                  <a:schemeClr val="dk2"/>
                </a:solidFill>
                <a:latin typeface="Calibri"/>
                <a:ea typeface="Calibri"/>
                <a:cs typeface="Calibri"/>
                <a:sym typeface="Calibri"/>
              </a:rPr>
              <a:t>For example, at sea, where the interesting things are constrained to the sea surface, a single angle – a bearing – is enough: 4 degrees of freedom.</a:t>
            </a:r>
            <a:endParaRPr sz="1900" dirty="0">
              <a:solidFill>
                <a:schemeClr val="dk2"/>
              </a:solidFill>
              <a:latin typeface="Calibri"/>
              <a:ea typeface="Calibri"/>
              <a:cs typeface="Calibri"/>
              <a:sym typeface="Calibri"/>
            </a:endParaRPr>
          </a:p>
          <a:p>
            <a:pPr marL="0" lvl="0" indent="0" algn="just" rtl="0">
              <a:spcBef>
                <a:spcPts val="0"/>
              </a:spcBef>
              <a:spcAft>
                <a:spcPts val="0"/>
              </a:spcAft>
              <a:buNone/>
            </a:pPr>
            <a:endParaRPr sz="1900" dirty="0">
              <a:solidFill>
                <a:schemeClr val="dk2"/>
              </a:solidFill>
              <a:latin typeface="Calibri"/>
              <a:ea typeface="Calibri"/>
              <a:cs typeface="Calibri"/>
              <a:sym typeface="Calibri"/>
            </a:endParaRPr>
          </a:p>
        </p:txBody>
      </p:sp>
      <p:sp>
        <p:nvSpPr>
          <p:cNvPr id="128" name="Google Shape;128;p22">
            <a:extLst>
              <a:ext uri="{FF2B5EF4-FFF2-40B4-BE49-F238E27FC236}">
                <a16:creationId xmlns:a16="http://schemas.microsoft.com/office/drawing/2014/main" id="{B16C6891-A0FC-25B1-49D5-99F0013B99B0}"/>
              </a:ext>
            </a:extLst>
          </p:cNvPr>
          <p:cNvSpPr txBox="1"/>
          <p:nvPr/>
        </p:nvSpPr>
        <p:spPr>
          <a:xfrm>
            <a:off x="5919650" y="1600200"/>
            <a:ext cx="2767200" cy="297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800" dirty="0">
                <a:solidFill>
                  <a:schemeClr val="dk2"/>
                </a:solidFill>
              </a:rPr>
              <a:t>Sometimes two angles – an azimuth and an altitude, for example – can be specified: 5 degrees of freedom altogether.</a:t>
            </a:r>
          </a:p>
          <a:p>
            <a:pPr marL="0" lvl="0" indent="0" algn="l" rtl="0">
              <a:spcBef>
                <a:spcPts val="0"/>
              </a:spcBef>
              <a:spcAft>
                <a:spcPts val="0"/>
              </a:spcAft>
              <a:buNone/>
            </a:pPr>
            <a:r>
              <a:rPr lang="en-US" sz="1800" dirty="0">
                <a:solidFill>
                  <a:schemeClr val="dk2"/>
                </a:solidFill>
              </a:rPr>
              <a:t>Point with 6 degrees of freedom specified is </a:t>
            </a:r>
            <a:r>
              <a:rPr lang="en-US" sz="1800" u="sng" dirty="0">
                <a:solidFill>
                  <a:schemeClr val="dk2"/>
                </a:solidFill>
              </a:rPr>
              <a:t>posing</a:t>
            </a:r>
            <a:r>
              <a:rPr lang="en-US" sz="1800" dirty="0">
                <a:solidFill>
                  <a:schemeClr val="dk2"/>
                </a:solidFill>
              </a:rPr>
              <a:t>.</a:t>
            </a:r>
            <a:endParaRPr sz="1800" dirty="0">
              <a:solidFill>
                <a:schemeClr val="dk2"/>
              </a:solidFill>
            </a:endParaRPr>
          </a:p>
          <a:p>
            <a:pPr marL="0" lvl="0" indent="0" algn="l" rtl="0">
              <a:spcBef>
                <a:spcPts val="0"/>
              </a:spcBef>
              <a:spcAft>
                <a:spcPts val="0"/>
              </a:spcAft>
              <a:buNone/>
            </a:pPr>
            <a:endParaRPr sz="1800" dirty="0">
              <a:solidFill>
                <a:schemeClr val="dk2"/>
              </a:solidFill>
            </a:endParaRPr>
          </a:p>
        </p:txBody>
      </p:sp>
      <p:pic>
        <p:nvPicPr>
          <p:cNvPr id="3" name="Picture 2">
            <a:extLst>
              <a:ext uri="{FF2B5EF4-FFF2-40B4-BE49-F238E27FC236}">
                <a16:creationId xmlns:a16="http://schemas.microsoft.com/office/drawing/2014/main" id="{85D709CC-9A90-131F-7A52-0E76E2536FCA}"/>
              </a:ext>
            </a:extLst>
          </p:cNvPr>
          <p:cNvPicPr>
            <a:picLocks noChangeAspect="1"/>
          </p:cNvPicPr>
          <p:nvPr/>
        </p:nvPicPr>
        <p:blipFill>
          <a:blip r:embed="rId3"/>
          <a:stretch>
            <a:fillRect/>
          </a:stretch>
        </p:blipFill>
        <p:spPr>
          <a:xfrm>
            <a:off x="2831555" y="1808562"/>
            <a:ext cx="1416887" cy="1757426"/>
          </a:xfrm>
          <a:prstGeom prst="rect">
            <a:avLst/>
          </a:prstGeom>
        </p:spPr>
      </p:pic>
      <p:pic>
        <p:nvPicPr>
          <p:cNvPr id="7" name="Picture 6">
            <a:extLst>
              <a:ext uri="{FF2B5EF4-FFF2-40B4-BE49-F238E27FC236}">
                <a16:creationId xmlns:a16="http://schemas.microsoft.com/office/drawing/2014/main" id="{3AC87CA7-F58C-157F-2EF3-25BA26A66C65}"/>
              </a:ext>
            </a:extLst>
          </p:cNvPr>
          <p:cNvPicPr>
            <a:picLocks noChangeAspect="1"/>
          </p:cNvPicPr>
          <p:nvPr/>
        </p:nvPicPr>
        <p:blipFill>
          <a:blip r:embed="rId4"/>
          <a:stretch>
            <a:fillRect/>
          </a:stretch>
        </p:blipFill>
        <p:spPr>
          <a:xfrm>
            <a:off x="4240659" y="2571750"/>
            <a:ext cx="1678991" cy="2020481"/>
          </a:xfrm>
          <a:prstGeom prst="rect">
            <a:avLst/>
          </a:prstGeom>
        </p:spPr>
      </p:pic>
    </p:spTree>
    <p:extLst>
      <p:ext uri="{BB962C8B-B14F-4D97-AF65-F5344CB8AC3E}">
        <p14:creationId xmlns:p14="http://schemas.microsoft.com/office/powerpoint/2010/main" val="30609477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5C10F2C2-ED06-986A-9ABF-167CD20B43B3}"/>
            </a:ext>
          </a:extLst>
        </p:cNvPr>
        <p:cNvGrpSpPr/>
        <p:nvPr/>
      </p:nvGrpSpPr>
      <p:grpSpPr>
        <a:xfrm>
          <a:off x="0" y="0"/>
          <a:ext cx="0" cy="0"/>
          <a:chOff x="0" y="0"/>
          <a:chExt cx="0" cy="0"/>
        </a:xfrm>
      </p:grpSpPr>
      <p:sp>
        <p:nvSpPr>
          <p:cNvPr id="125" name="Google Shape;125;p22">
            <a:extLst>
              <a:ext uri="{FF2B5EF4-FFF2-40B4-BE49-F238E27FC236}">
                <a16:creationId xmlns:a16="http://schemas.microsoft.com/office/drawing/2014/main" id="{2AF88C98-CB8B-DA1C-6DF0-B492B29E7310}"/>
              </a:ext>
            </a:extLst>
          </p:cNvPr>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latin typeface="Calibri"/>
                <a:ea typeface="Calibri"/>
                <a:cs typeface="Calibri"/>
                <a:sym typeface="Calibri"/>
              </a:rPr>
              <a:t>Posing</a:t>
            </a:r>
            <a:endParaRPr dirty="0">
              <a:latin typeface="Calibri"/>
              <a:ea typeface="Calibri"/>
              <a:cs typeface="Calibri"/>
              <a:sym typeface="Calibri"/>
            </a:endParaRPr>
          </a:p>
        </p:txBody>
      </p:sp>
      <p:sp>
        <p:nvSpPr>
          <p:cNvPr id="127" name="Google Shape;127;p22">
            <a:extLst>
              <a:ext uri="{FF2B5EF4-FFF2-40B4-BE49-F238E27FC236}">
                <a16:creationId xmlns:a16="http://schemas.microsoft.com/office/drawing/2014/main" id="{49A18500-3426-E020-2F3C-4D318F6402D4}"/>
              </a:ext>
            </a:extLst>
          </p:cNvPr>
          <p:cNvSpPr txBox="1"/>
          <p:nvPr/>
        </p:nvSpPr>
        <p:spPr>
          <a:xfrm>
            <a:off x="463500" y="1600075"/>
            <a:ext cx="2500800" cy="2971800"/>
          </a:xfrm>
          <a:prstGeom prst="rect">
            <a:avLst/>
          </a:prstGeom>
          <a:noFill/>
          <a:ln>
            <a:noFill/>
          </a:ln>
        </p:spPr>
        <p:txBody>
          <a:bodyPr spcFirstLastPara="1" wrap="square" lIns="91425" tIns="91425" rIns="91425" bIns="91425" anchor="t" anchorCtr="0">
            <a:noAutofit/>
          </a:bodyPr>
          <a:lstStyle/>
          <a:p>
            <a:pPr marL="0" lvl="0" indent="0" rtl="0">
              <a:spcBef>
                <a:spcPts val="0"/>
              </a:spcBef>
              <a:spcAft>
                <a:spcPts val="0"/>
              </a:spcAft>
              <a:buNone/>
            </a:pPr>
            <a:r>
              <a:rPr lang="en-US" sz="1900" dirty="0">
                <a:solidFill>
                  <a:schemeClr val="dk2"/>
                </a:solidFill>
                <a:latin typeface="Calibri"/>
                <a:ea typeface="Calibri"/>
                <a:cs typeface="Calibri"/>
                <a:sym typeface="Calibri"/>
              </a:rPr>
              <a:t>Posing completely specifies the origin and orientation of a local Cartesian coordinate system. </a:t>
            </a:r>
          </a:p>
          <a:p>
            <a:pPr marL="0" lvl="0" indent="0" rtl="0">
              <a:spcBef>
                <a:spcPts val="0"/>
              </a:spcBef>
              <a:spcAft>
                <a:spcPts val="0"/>
              </a:spcAft>
              <a:buNone/>
            </a:pPr>
            <a:r>
              <a:rPr lang="en-US" sz="1900" dirty="0">
                <a:solidFill>
                  <a:schemeClr val="dk2"/>
                </a:solidFill>
                <a:latin typeface="Calibri"/>
                <a:ea typeface="Calibri"/>
                <a:cs typeface="Calibri"/>
                <a:sym typeface="Calibri"/>
              </a:rPr>
              <a:t>A </a:t>
            </a:r>
            <a:r>
              <a:rPr lang="en-US" sz="1900" dirty="0" err="1">
                <a:solidFill>
                  <a:schemeClr val="dk2"/>
                </a:solidFill>
                <a:latin typeface="Calibri"/>
                <a:ea typeface="Calibri"/>
                <a:cs typeface="Calibri"/>
                <a:sym typeface="Calibri"/>
              </a:rPr>
              <a:t>GeoPose</a:t>
            </a:r>
            <a:r>
              <a:rPr lang="en-US" sz="1900" dirty="0">
                <a:solidFill>
                  <a:schemeClr val="dk2"/>
                </a:solidFill>
                <a:latin typeface="Calibri"/>
                <a:ea typeface="Calibri"/>
                <a:cs typeface="Calibri"/>
                <a:sym typeface="Calibri"/>
              </a:rPr>
              <a:t> relates the local coordinate system to an externally define 3-dimensional coordinate system.</a:t>
            </a:r>
            <a:endParaRPr sz="1900" dirty="0">
              <a:solidFill>
                <a:schemeClr val="dk2"/>
              </a:solidFill>
              <a:latin typeface="Calibri"/>
              <a:ea typeface="Calibri"/>
              <a:cs typeface="Calibri"/>
              <a:sym typeface="Calibri"/>
            </a:endParaRPr>
          </a:p>
          <a:p>
            <a:pPr marL="0" lvl="0" indent="0" algn="just" rtl="0">
              <a:spcBef>
                <a:spcPts val="0"/>
              </a:spcBef>
              <a:spcAft>
                <a:spcPts val="0"/>
              </a:spcAft>
              <a:buNone/>
            </a:pPr>
            <a:endParaRPr sz="1900" dirty="0">
              <a:solidFill>
                <a:schemeClr val="dk2"/>
              </a:solidFill>
              <a:latin typeface="Calibri"/>
              <a:ea typeface="Calibri"/>
              <a:cs typeface="Calibri"/>
              <a:sym typeface="Calibri"/>
            </a:endParaRPr>
          </a:p>
        </p:txBody>
      </p:sp>
      <p:sp>
        <p:nvSpPr>
          <p:cNvPr id="128" name="Google Shape;128;p22">
            <a:extLst>
              <a:ext uri="{FF2B5EF4-FFF2-40B4-BE49-F238E27FC236}">
                <a16:creationId xmlns:a16="http://schemas.microsoft.com/office/drawing/2014/main" id="{E7EDE830-ABA7-8C3B-9BED-61848B5A1F2C}"/>
              </a:ext>
            </a:extLst>
          </p:cNvPr>
          <p:cNvSpPr txBox="1"/>
          <p:nvPr/>
        </p:nvSpPr>
        <p:spPr>
          <a:xfrm>
            <a:off x="5919650" y="1600200"/>
            <a:ext cx="2767200" cy="297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800" dirty="0">
                <a:solidFill>
                  <a:schemeClr val="dk2"/>
                </a:solidFill>
              </a:rPr>
              <a:t>Even though pointing and posing are closely related, many practical use cases are defined by the number of unconstrained degrees of freedom in orientation.</a:t>
            </a:r>
          </a:p>
          <a:p>
            <a:pPr marL="0" lvl="0" indent="0" algn="l" rtl="0">
              <a:spcBef>
                <a:spcPts val="0"/>
              </a:spcBef>
              <a:spcAft>
                <a:spcPts val="0"/>
              </a:spcAft>
              <a:buNone/>
            </a:pPr>
            <a:r>
              <a:rPr lang="en-US" sz="1800" dirty="0">
                <a:solidFill>
                  <a:schemeClr val="dk2"/>
                </a:solidFill>
              </a:rPr>
              <a:t>Posing has 3, and corresponds to the computer graphics pose concept. </a:t>
            </a:r>
            <a:endParaRPr sz="1800" dirty="0">
              <a:solidFill>
                <a:schemeClr val="dk2"/>
              </a:solidFill>
            </a:endParaRPr>
          </a:p>
        </p:txBody>
      </p:sp>
      <p:pic>
        <p:nvPicPr>
          <p:cNvPr id="2" name="Google Shape;118;p21">
            <a:extLst>
              <a:ext uri="{FF2B5EF4-FFF2-40B4-BE49-F238E27FC236}">
                <a16:creationId xmlns:a16="http://schemas.microsoft.com/office/drawing/2014/main" id="{53F123D3-B847-4C96-74DD-FC3B2A79A089}"/>
              </a:ext>
            </a:extLst>
          </p:cNvPr>
          <p:cNvPicPr preferRelativeResize="0"/>
          <p:nvPr/>
        </p:nvPicPr>
        <p:blipFill>
          <a:blip r:embed="rId3">
            <a:alphaModFix/>
          </a:blip>
          <a:stretch>
            <a:fillRect/>
          </a:stretch>
        </p:blipFill>
        <p:spPr>
          <a:xfrm>
            <a:off x="3452078" y="1600200"/>
            <a:ext cx="2047721" cy="2971801"/>
          </a:xfrm>
          <a:prstGeom prst="rect">
            <a:avLst/>
          </a:prstGeom>
          <a:noFill/>
          <a:ln>
            <a:noFill/>
          </a:ln>
        </p:spPr>
      </p:pic>
    </p:spTree>
    <p:extLst>
      <p:ext uri="{BB962C8B-B14F-4D97-AF65-F5344CB8AC3E}">
        <p14:creationId xmlns:p14="http://schemas.microsoft.com/office/powerpoint/2010/main" val="22198606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79FD329F-642B-4211-F8D7-6338551F5E99}"/>
            </a:ext>
          </a:extLst>
        </p:cNvPr>
        <p:cNvGrpSpPr/>
        <p:nvPr/>
      </p:nvGrpSpPr>
      <p:grpSpPr>
        <a:xfrm>
          <a:off x="0" y="0"/>
          <a:ext cx="0" cy="0"/>
          <a:chOff x="0" y="0"/>
          <a:chExt cx="0" cy="0"/>
        </a:xfrm>
      </p:grpSpPr>
      <p:sp>
        <p:nvSpPr>
          <p:cNvPr id="125" name="Google Shape;125;p22">
            <a:extLst>
              <a:ext uri="{FF2B5EF4-FFF2-40B4-BE49-F238E27FC236}">
                <a16:creationId xmlns:a16="http://schemas.microsoft.com/office/drawing/2014/main" id="{2858227B-A7A5-8785-2508-37B23B13E82F}"/>
              </a:ext>
            </a:extLst>
          </p:cNvPr>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latin typeface="Calibri"/>
                <a:ea typeface="Calibri"/>
                <a:cs typeface="Calibri"/>
                <a:sym typeface="Calibri"/>
              </a:rPr>
              <a:t>Touching</a:t>
            </a:r>
            <a:endParaRPr dirty="0">
              <a:latin typeface="Calibri"/>
              <a:ea typeface="Calibri"/>
              <a:cs typeface="Calibri"/>
              <a:sym typeface="Calibri"/>
            </a:endParaRPr>
          </a:p>
        </p:txBody>
      </p:sp>
      <p:sp>
        <p:nvSpPr>
          <p:cNvPr id="127" name="Google Shape;127;p22">
            <a:extLst>
              <a:ext uri="{FF2B5EF4-FFF2-40B4-BE49-F238E27FC236}">
                <a16:creationId xmlns:a16="http://schemas.microsoft.com/office/drawing/2014/main" id="{6670821B-4EA4-4A16-FDDA-9D4782B0FE38}"/>
              </a:ext>
            </a:extLst>
          </p:cNvPr>
          <p:cNvSpPr txBox="1"/>
          <p:nvPr/>
        </p:nvSpPr>
        <p:spPr>
          <a:xfrm>
            <a:off x="463500" y="1600075"/>
            <a:ext cx="2500800" cy="2971800"/>
          </a:xfrm>
          <a:prstGeom prst="rect">
            <a:avLst/>
          </a:prstGeom>
          <a:noFill/>
          <a:ln>
            <a:noFill/>
          </a:ln>
        </p:spPr>
        <p:txBody>
          <a:bodyPr spcFirstLastPara="1" wrap="square" lIns="91425" tIns="91425" rIns="91425" bIns="91425" anchor="t" anchorCtr="0">
            <a:noAutofit/>
          </a:bodyPr>
          <a:lstStyle/>
          <a:p>
            <a:pPr marL="0" lvl="0" indent="0" rtl="0">
              <a:spcBef>
                <a:spcPts val="0"/>
              </a:spcBef>
              <a:spcAft>
                <a:spcPts val="0"/>
              </a:spcAft>
              <a:buNone/>
            </a:pPr>
            <a:r>
              <a:rPr lang="en-US" sz="1900" dirty="0">
                <a:solidFill>
                  <a:schemeClr val="dk2"/>
                </a:solidFill>
                <a:latin typeface="Calibri"/>
                <a:ea typeface="Calibri"/>
                <a:cs typeface="Calibri"/>
                <a:sym typeface="Calibri"/>
              </a:rPr>
              <a:t>Touching is posing plus a distance from the origin of the local coordinate system to a distinguished point on the subject.</a:t>
            </a:r>
          </a:p>
          <a:p>
            <a:pPr marL="0" lvl="0" indent="0" rtl="0">
              <a:spcBef>
                <a:spcPts val="0"/>
              </a:spcBef>
              <a:spcAft>
                <a:spcPts val="0"/>
              </a:spcAft>
              <a:buNone/>
            </a:pPr>
            <a:r>
              <a:rPr lang="en-US" sz="1900" dirty="0">
                <a:solidFill>
                  <a:schemeClr val="dk2"/>
                </a:solidFill>
                <a:latin typeface="Calibri"/>
                <a:ea typeface="Calibri"/>
                <a:cs typeface="Calibri"/>
                <a:sym typeface="Calibri"/>
              </a:rPr>
              <a:t>Sensor systems such as RADAR and LiDAR naturally estimate a combined pose and </a:t>
            </a:r>
            <a:endParaRPr sz="1900" dirty="0">
              <a:solidFill>
                <a:schemeClr val="dk2"/>
              </a:solidFill>
              <a:latin typeface="Calibri"/>
              <a:ea typeface="Calibri"/>
              <a:cs typeface="Calibri"/>
              <a:sym typeface="Calibri"/>
            </a:endParaRPr>
          </a:p>
          <a:p>
            <a:pPr marL="0" lvl="0" indent="0" algn="just" rtl="0">
              <a:spcBef>
                <a:spcPts val="0"/>
              </a:spcBef>
              <a:spcAft>
                <a:spcPts val="0"/>
              </a:spcAft>
              <a:buNone/>
            </a:pPr>
            <a:endParaRPr sz="1900" dirty="0">
              <a:solidFill>
                <a:schemeClr val="dk2"/>
              </a:solidFill>
              <a:latin typeface="Calibri"/>
              <a:ea typeface="Calibri"/>
              <a:cs typeface="Calibri"/>
              <a:sym typeface="Calibri"/>
            </a:endParaRPr>
          </a:p>
        </p:txBody>
      </p:sp>
      <p:sp>
        <p:nvSpPr>
          <p:cNvPr id="128" name="Google Shape;128;p22">
            <a:extLst>
              <a:ext uri="{FF2B5EF4-FFF2-40B4-BE49-F238E27FC236}">
                <a16:creationId xmlns:a16="http://schemas.microsoft.com/office/drawing/2014/main" id="{FCF1B6B8-01EE-2795-8C28-12CB4B327BD1}"/>
              </a:ext>
            </a:extLst>
          </p:cNvPr>
          <p:cNvSpPr txBox="1"/>
          <p:nvPr/>
        </p:nvSpPr>
        <p:spPr>
          <a:xfrm>
            <a:off x="5919650" y="1600200"/>
            <a:ext cx="2767200" cy="297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800" dirty="0">
                <a:solidFill>
                  <a:schemeClr val="dk2"/>
                </a:solidFill>
              </a:rPr>
              <a:t>range (depth). Robotic systems may use binocular vision to estimate depth.</a:t>
            </a:r>
          </a:p>
          <a:p>
            <a:pPr marL="0" lvl="0" indent="0" algn="l" rtl="0">
              <a:spcBef>
                <a:spcPts val="0"/>
              </a:spcBef>
              <a:spcAft>
                <a:spcPts val="0"/>
              </a:spcAft>
              <a:buNone/>
            </a:pPr>
            <a:r>
              <a:rPr lang="en-US" sz="1800" dirty="0">
                <a:solidFill>
                  <a:schemeClr val="dk2"/>
                </a:solidFill>
              </a:rPr>
              <a:t>Artificial visual perception may produce a field of touch points – a depth map. A depth map is often produced by visual positioning systems.</a:t>
            </a:r>
            <a:endParaRPr sz="1800" dirty="0">
              <a:solidFill>
                <a:schemeClr val="dk2"/>
              </a:solidFill>
            </a:endParaRPr>
          </a:p>
        </p:txBody>
      </p:sp>
      <p:pic>
        <p:nvPicPr>
          <p:cNvPr id="3" name="Picture 2">
            <a:extLst>
              <a:ext uri="{FF2B5EF4-FFF2-40B4-BE49-F238E27FC236}">
                <a16:creationId xmlns:a16="http://schemas.microsoft.com/office/drawing/2014/main" id="{DC36A26E-0073-E33F-6304-2973BC8051F4}"/>
              </a:ext>
            </a:extLst>
          </p:cNvPr>
          <p:cNvPicPr>
            <a:picLocks noChangeAspect="1"/>
          </p:cNvPicPr>
          <p:nvPr/>
        </p:nvPicPr>
        <p:blipFill>
          <a:blip r:embed="rId3"/>
          <a:stretch>
            <a:fillRect/>
          </a:stretch>
        </p:blipFill>
        <p:spPr>
          <a:xfrm>
            <a:off x="2974078" y="1871744"/>
            <a:ext cx="2945572" cy="2428461"/>
          </a:xfrm>
          <a:prstGeom prst="rect">
            <a:avLst/>
          </a:prstGeom>
        </p:spPr>
      </p:pic>
    </p:spTree>
    <p:extLst>
      <p:ext uri="{BB962C8B-B14F-4D97-AF65-F5344CB8AC3E}">
        <p14:creationId xmlns:p14="http://schemas.microsoft.com/office/powerpoint/2010/main" val="32675188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7685DA4B-631B-5666-0F70-1E4FDDDBA080}"/>
            </a:ext>
          </a:extLst>
        </p:cNvPr>
        <p:cNvGrpSpPr/>
        <p:nvPr/>
      </p:nvGrpSpPr>
      <p:grpSpPr>
        <a:xfrm>
          <a:off x="0" y="0"/>
          <a:ext cx="0" cy="0"/>
          <a:chOff x="0" y="0"/>
          <a:chExt cx="0" cy="0"/>
        </a:xfrm>
      </p:grpSpPr>
      <p:sp>
        <p:nvSpPr>
          <p:cNvPr id="125" name="Google Shape;125;p22">
            <a:extLst>
              <a:ext uri="{FF2B5EF4-FFF2-40B4-BE49-F238E27FC236}">
                <a16:creationId xmlns:a16="http://schemas.microsoft.com/office/drawing/2014/main" id="{316D3087-B560-42CC-EAEB-394981D6265D}"/>
              </a:ext>
            </a:extLst>
          </p:cNvPr>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latin typeface="Calibri"/>
                <a:ea typeface="Calibri"/>
                <a:cs typeface="Calibri"/>
                <a:sym typeface="Calibri"/>
              </a:rPr>
              <a:t>Connecting</a:t>
            </a:r>
            <a:endParaRPr dirty="0">
              <a:latin typeface="Calibri"/>
              <a:ea typeface="Calibri"/>
              <a:cs typeface="Calibri"/>
              <a:sym typeface="Calibri"/>
            </a:endParaRPr>
          </a:p>
        </p:txBody>
      </p:sp>
      <p:sp>
        <p:nvSpPr>
          <p:cNvPr id="127" name="Google Shape;127;p22">
            <a:extLst>
              <a:ext uri="{FF2B5EF4-FFF2-40B4-BE49-F238E27FC236}">
                <a16:creationId xmlns:a16="http://schemas.microsoft.com/office/drawing/2014/main" id="{9C1FF181-EB36-E0C0-2858-4F26EE29D944}"/>
              </a:ext>
            </a:extLst>
          </p:cNvPr>
          <p:cNvSpPr txBox="1"/>
          <p:nvPr/>
        </p:nvSpPr>
        <p:spPr>
          <a:xfrm>
            <a:off x="463500" y="1600075"/>
            <a:ext cx="2500800" cy="2971800"/>
          </a:xfrm>
          <a:prstGeom prst="rect">
            <a:avLst/>
          </a:prstGeom>
          <a:noFill/>
          <a:ln>
            <a:noFill/>
          </a:ln>
        </p:spPr>
        <p:txBody>
          <a:bodyPr spcFirstLastPara="1" wrap="square" lIns="91425" tIns="91425" rIns="91425" bIns="91425" anchor="t" anchorCtr="0">
            <a:noAutofit/>
          </a:bodyPr>
          <a:lstStyle/>
          <a:p>
            <a:pPr marL="0" lvl="0" indent="0" rtl="0">
              <a:spcBef>
                <a:spcPts val="0"/>
              </a:spcBef>
              <a:spcAft>
                <a:spcPts val="0"/>
              </a:spcAft>
              <a:buNone/>
            </a:pPr>
            <a:r>
              <a:rPr lang="en-US" sz="1900" dirty="0">
                <a:solidFill>
                  <a:schemeClr val="dk2"/>
                </a:solidFill>
                <a:latin typeface="Calibri"/>
                <a:ea typeface="Calibri"/>
                <a:cs typeface="Calibri"/>
                <a:sym typeface="Calibri"/>
              </a:rPr>
              <a:t>Connecting is the combination of posing plus a depth. </a:t>
            </a:r>
          </a:p>
          <a:p>
            <a:pPr marL="0" lvl="0" indent="0" rtl="0">
              <a:spcBef>
                <a:spcPts val="0"/>
              </a:spcBef>
              <a:spcAft>
                <a:spcPts val="0"/>
              </a:spcAft>
              <a:buNone/>
            </a:pPr>
            <a:r>
              <a:rPr lang="en-US" sz="1900" dirty="0">
                <a:solidFill>
                  <a:schemeClr val="dk2"/>
                </a:solidFill>
                <a:latin typeface="Calibri"/>
                <a:ea typeface="Calibri"/>
                <a:cs typeface="Calibri"/>
                <a:sym typeface="Calibri"/>
              </a:rPr>
              <a:t>Autonomous navigation and robotics with direct manipulation of objects in the world are examples.</a:t>
            </a:r>
            <a:endParaRPr sz="1900" dirty="0">
              <a:solidFill>
                <a:schemeClr val="dk2"/>
              </a:solidFill>
              <a:latin typeface="Calibri"/>
              <a:ea typeface="Calibri"/>
              <a:cs typeface="Calibri"/>
              <a:sym typeface="Calibri"/>
            </a:endParaRPr>
          </a:p>
          <a:p>
            <a:pPr marL="0" lvl="0" indent="0" algn="just" rtl="0">
              <a:spcBef>
                <a:spcPts val="0"/>
              </a:spcBef>
              <a:spcAft>
                <a:spcPts val="0"/>
              </a:spcAft>
              <a:buNone/>
            </a:pPr>
            <a:endParaRPr sz="1900" dirty="0">
              <a:solidFill>
                <a:schemeClr val="dk2"/>
              </a:solidFill>
              <a:latin typeface="Calibri"/>
              <a:ea typeface="Calibri"/>
              <a:cs typeface="Calibri"/>
              <a:sym typeface="Calibri"/>
            </a:endParaRPr>
          </a:p>
        </p:txBody>
      </p:sp>
      <p:sp>
        <p:nvSpPr>
          <p:cNvPr id="128" name="Google Shape;128;p22">
            <a:extLst>
              <a:ext uri="{FF2B5EF4-FFF2-40B4-BE49-F238E27FC236}">
                <a16:creationId xmlns:a16="http://schemas.microsoft.com/office/drawing/2014/main" id="{71446268-5C6C-E1D9-B157-784E93B80685}"/>
              </a:ext>
            </a:extLst>
          </p:cNvPr>
          <p:cNvSpPr txBox="1"/>
          <p:nvPr/>
        </p:nvSpPr>
        <p:spPr>
          <a:xfrm>
            <a:off x="5919650" y="1600200"/>
            <a:ext cx="2767200" cy="297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800" dirty="0">
                <a:solidFill>
                  <a:schemeClr val="dk2"/>
                </a:solidFill>
              </a:rPr>
              <a:t>Connecting often involves a chain or graph of poses to meet the requirements of practical use cases.</a:t>
            </a:r>
            <a:endParaRPr sz="1800" dirty="0">
              <a:solidFill>
                <a:schemeClr val="dk2"/>
              </a:solidFill>
            </a:endParaRPr>
          </a:p>
          <a:p>
            <a:pPr marL="0" lvl="0" indent="0" algn="l" rtl="0">
              <a:spcBef>
                <a:spcPts val="0"/>
              </a:spcBef>
              <a:spcAft>
                <a:spcPts val="0"/>
              </a:spcAft>
              <a:buNone/>
            </a:pPr>
            <a:endParaRPr sz="1800" dirty="0">
              <a:solidFill>
                <a:schemeClr val="dk2"/>
              </a:solidFill>
            </a:endParaRPr>
          </a:p>
        </p:txBody>
      </p:sp>
      <p:pic>
        <p:nvPicPr>
          <p:cNvPr id="3" name="Picture 2">
            <a:extLst>
              <a:ext uri="{FF2B5EF4-FFF2-40B4-BE49-F238E27FC236}">
                <a16:creationId xmlns:a16="http://schemas.microsoft.com/office/drawing/2014/main" id="{D0672FD8-AF08-9613-88A4-79C46C6A2305}"/>
              </a:ext>
            </a:extLst>
          </p:cNvPr>
          <p:cNvPicPr>
            <a:picLocks noChangeAspect="1"/>
          </p:cNvPicPr>
          <p:nvPr/>
        </p:nvPicPr>
        <p:blipFill>
          <a:blip r:embed="rId3"/>
          <a:stretch>
            <a:fillRect/>
          </a:stretch>
        </p:blipFill>
        <p:spPr>
          <a:xfrm>
            <a:off x="3393163" y="1633538"/>
            <a:ext cx="2219846" cy="2893454"/>
          </a:xfrm>
          <a:prstGeom prst="rect">
            <a:avLst/>
          </a:prstGeom>
        </p:spPr>
      </p:pic>
    </p:spTree>
    <p:extLst>
      <p:ext uri="{BB962C8B-B14F-4D97-AF65-F5344CB8AC3E}">
        <p14:creationId xmlns:p14="http://schemas.microsoft.com/office/powerpoint/2010/main" val="20995006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8"/>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Representing a Pose</a:t>
            </a:r>
            <a:endParaRPr>
              <a:latin typeface="Calibri"/>
              <a:ea typeface="Calibri"/>
              <a:cs typeface="Calibri"/>
              <a:sym typeface="Calibri"/>
            </a:endParaRPr>
          </a:p>
        </p:txBody>
      </p:sp>
      <p:sp>
        <p:nvSpPr>
          <p:cNvPr id="170" name="Google Shape;170;p28"/>
          <p:cNvSpPr txBox="1"/>
          <p:nvPr/>
        </p:nvSpPr>
        <p:spPr>
          <a:xfrm>
            <a:off x="3050525" y="1485275"/>
            <a:ext cx="5636400" cy="2816700"/>
          </a:xfrm>
          <a:prstGeom prst="rect">
            <a:avLst/>
          </a:prstGeom>
          <a:noFill/>
          <a:ln>
            <a:noFill/>
          </a:ln>
        </p:spPr>
        <p:txBody>
          <a:bodyPr spcFirstLastPara="1" wrap="square" lIns="91425" tIns="91425" rIns="91425" bIns="91425" anchor="t" anchorCtr="0">
            <a:spAutoFit/>
          </a:bodyPr>
          <a:lstStyle/>
          <a:p>
            <a:pPr marL="0" lvl="0" indent="0" algn="just" rtl="0">
              <a:spcBef>
                <a:spcPts val="0"/>
              </a:spcBef>
              <a:spcAft>
                <a:spcPts val="0"/>
              </a:spcAft>
              <a:buNone/>
            </a:pPr>
            <a:r>
              <a:rPr lang="en" sz="1900">
                <a:solidFill>
                  <a:schemeClr val="dk2"/>
                </a:solidFill>
                <a:latin typeface="Calibri"/>
                <a:ea typeface="Calibri"/>
                <a:cs typeface="Calibri"/>
                <a:sym typeface="Calibri"/>
              </a:rPr>
              <a:t>Poses have an origin and a direction. You can represent a Pose as a unit vector in a 3D (Euclidean) space. </a:t>
            </a:r>
            <a:endParaRPr sz="1900">
              <a:solidFill>
                <a:schemeClr val="dk2"/>
              </a:solidFill>
              <a:latin typeface="Calibri"/>
              <a:ea typeface="Calibri"/>
              <a:cs typeface="Calibri"/>
              <a:sym typeface="Calibri"/>
            </a:endParaRPr>
          </a:p>
          <a:p>
            <a:pPr marL="0" lvl="0" indent="0" algn="just" rtl="0">
              <a:spcBef>
                <a:spcPts val="0"/>
              </a:spcBef>
              <a:spcAft>
                <a:spcPts val="0"/>
              </a:spcAft>
              <a:buNone/>
            </a:pPr>
            <a:endParaRPr sz="1900">
              <a:solidFill>
                <a:schemeClr val="dk2"/>
              </a:solidFill>
              <a:latin typeface="Calibri"/>
              <a:ea typeface="Calibri"/>
              <a:cs typeface="Calibri"/>
              <a:sym typeface="Calibri"/>
            </a:endParaRPr>
          </a:p>
          <a:p>
            <a:pPr marL="0" lvl="0" indent="0" algn="just" rtl="0">
              <a:spcBef>
                <a:spcPts val="0"/>
              </a:spcBef>
              <a:spcAft>
                <a:spcPts val="0"/>
              </a:spcAft>
              <a:buNone/>
            </a:pPr>
            <a:r>
              <a:rPr lang="en" sz="1900">
                <a:solidFill>
                  <a:schemeClr val="dk2"/>
                </a:solidFill>
                <a:latin typeface="Calibri"/>
                <a:ea typeface="Calibri"/>
                <a:cs typeface="Calibri"/>
                <a:sym typeface="Calibri"/>
              </a:rPr>
              <a:t>In practice, a Pose may have additional properties:</a:t>
            </a:r>
            <a:endParaRPr sz="1900">
              <a:solidFill>
                <a:schemeClr val="dk2"/>
              </a:solidFill>
              <a:latin typeface="Calibri"/>
              <a:ea typeface="Calibri"/>
              <a:cs typeface="Calibri"/>
              <a:sym typeface="Calibri"/>
            </a:endParaRPr>
          </a:p>
          <a:p>
            <a:pPr marL="457200" lvl="0" indent="-349250" algn="just" rtl="0">
              <a:spcBef>
                <a:spcPts val="0"/>
              </a:spcBef>
              <a:spcAft>
                <a:spcPts val="0"/>
              </a:spcAft>
              <a:buClr>
                <a:schemeClr val="dk2"/>
              </a:buClr>
              <a:buSzPts val="1900"/>
              <a:buFont typeface="Calibri"/>
              <a:buChar char="●"/>
            </a:pPr>
            <a:r>
              <a:rPr lang="en" sz="1900">
                <a:solidFill>
                  <a:schemeClr val="dk2"/>
                </a:solidFill>
                <a:latin typeface="Calibri"/>
                <a:ea typeface="Calibri"/>
                <a:cs typeface="Calibri"/>
                <a:sym typeface="Calibri"/>
              </a:rPr>
              <a:t>The type of Pose - Observer, Subject, or Object.</a:t>
            </a:r>
            <a:endParaRPr sz="1900">
              <a:solidFill>
                <a:schemeClr val="dk2"/>
              </a:solidFill>
              <a:latin typeface="Calibri"/>
              <a:ea typeface="Calibri"/>
              <a:cs typeface="Calibri"/>
              <a:sym typeface="Calibri"/>
            </a:endParaRPr>
          </a:p>
          <a:p>
            <a:pPr marL="457200" lvl="0" indent="-349250" algn="just" rtl="0">
              <a:spcBef>
                <a:spcPts val="0"/>
              </a:spcBef>
              <a:spcAft>
                <a:spcPts val="0"/>
              </a:spcAft>
              <a:buClr>
                <a:schemeClr val="dk2"/>
              </a:buClr>
              <a:buSzPts val="1900"/>
              <a:buFont typeface="Calibri"/>
              <a:buChar char="●"/>
            </a:pPr>
            <a:r>
              <a:rPr lang="en" sz="1900">
                <a:solidFill>
                  <a:schemeClr val="dk2"/>
                </a:solidFill>
                <a:latin typeface="Calibri"/>
                <a:ea typeface="Calibri"/>
                <a:cs typeface="Calibri"/>
                <a:sym typeface="Calibri"/>
              </a:rPr>
              <a:t>One or more depths.</a:t>
            </a:r>
            <a:endParaRPr sz="1900">
              <a:solidFill>
                <a:schemeClr val="dk2"/>
              </a:solidFill>
              <a:latin typeface="Calibri"/>
              <a:ea typeface="Calibri"/>
              <a:cs typeface="Calibri"/>
              <a:sym typeface="Calibri"/>
            </a:endParaRPr>
          </a:p>
          <a:p>
            <a:pPr marL="457200" lvl="0" indent="-349250" algn="just" rtl="0">
              <a:spcBef>
                <a:spcPts val="0"/>
              </a:spcBef>
              <a:spcAft>
                <a:spcPts val="0"/>
              </a:spcAft>
              <a:buClr>
                <a:schemeClr val="dk2"/>
              </a:buClr>
              <a:buSzPts val="1900"/>
              <a:buFont typeface="Calibri"/>
              <a:buChar char="●"/>
            </a:pPr>
            <a:r>
              <a:rPr lang="en" sz="1900">
                <a:solidFill>
                  <a:schemeClr val="dk2"/>
                </a:solidFill>
                <a:latin typeface="Calibri"/>
                <a:ea typeface="Calibri"/>
                <a:cs typeface="Calibri"/>
                <a:sym typeface="Calibri"/>
              </a:rPr>
              <a:t>An associated uncertainty.</a:t>
            </a:r>
            <a:endParaRPr sz="1900">
              <a:solidFill>
                <a:schemeClr val="dk2"/>
              </a:solidFill>
              <a:latin typeface="Calibri"/>
              <a:ea typeface="Calibri"/>
              <a:cs typeface="Calibri"/>
              <a:sym typeface="Calibri"/>
            </a:endParaRPr>
          </a:p>
          <a:p>
            <a:pPr marL="457200" lvl="0" indent="-349250" algn="just" rtl="0">
              <a:spcBef>
                <a:spcPts val="0"/>
              </a:spcBef>
              <a:spcAft>
                <a:spcPts val="0"/>
              </a:spcAft>
              <a:buClr>
                <a:schemeClr val="dk2"/>
              </a:buClr>
              <a:buSzPts val="1900"/>
              <a:buFont typeface="Calibri"/>
              <a:buChar char="●"/>
            </a:pPr>
            <a:r>
              <a:rPr lang="en" sz="1900">
                <a:solidFill>
                  <a:schemeClr val="dk2"/>
                </a:solidFill>
                <a:latin typeface="Calibri"/>
                <a:ea typeface="Calibri"/>
                <a:cs typeface="Calibri"/>
                <a:sym typeface="Calibri"/>
              </a:rPr>
              <a:t>A time.</a:t>
            </a:r>
            <a:endParaRPr sz="1900">
              <a:solidFill>
                <a:schemeClr val="dk2"/>
              </a:solidFill>
              <a:latin typeface="Calibri"/>
              <a:ea typeface="Calibri"/>
              <a:cs typeface="Calibri"/>
              <a:sym typeface="Calibri"/>
            </a:endParaRPr>
          </a:p>
          <a:p>
            <a:pPr marL="457200" lvl="0" indent="-349250" algn="just" rtl="0">
              <a:spcBef>
                <a:spcPts val="0"/>
              </a:spcBef>
              <a:spcAft>
                <a:spcPts val="0"/>
              </a:spcAft>
              <a:buClr>
                <a:schemeClr val="dk2"/>
              </a:buClr>
              <a:buSzPts val="1900"/>
              <a:buFont typeface="Calibri"/>
              <a:buChar char="●"/>
            </a:pPr>
            <a:r>
              <a:rPr lang="en" sz="1900">
                <a:solidFill>
                  <a:schemeClr val="dk2"/>
                </a:solidFill>
                <a:latin typeface="Calibri"/>
                <a:ea typeface="Calibri"/>
                <a:cs typeface="Calibri"/>
                <a:sym typeface="Calibri"/>
              </a:rPr>
              <a:t>An identifier.</a:t>
            </a:r>
            <a:endParaRPr sz="1900">
              <a:solidFill>
                <a:schemeClr val="dk2"/>
              </a:solidFill>
              <a:latin typeface="Calibri"/>
              <a:ea typeface="Calibri"/>
              <a:cs typeface="Calibri"/>
              <a:sym typeface="Calibri"/>
            </a:endParaRPr>
          </a:p>
        </p:txBody>
      </p:sp>
      <p:pic>
        <p:nvPicPr>
          <p:cNvPr id="171" name="Google Shape;171;p28"/>
          <p:cNvPicPr preferRelativeResize="0"/>
          <p:nvPr/>
        </p:nvPicPr>
        <p:blipFill>
          <a:blip r:embed="rId3">
            <a:alphaModFix/>
          </a:blip>
          <a:stretch>
            <a:fillRect/>
          </a:stretch>
        </p:blipFill>
        <p:spPr>
          <a:xfrm>
            <a:off x="858525" y="1961950"/>
            <a:ext cx="1795300" cy="180450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29"/>
          <p:cNvSpPr txBox="1"/>
          <p:nvPr/>
        </p:nvSpPr>
        <p:spPr>
          <a:xfrm>
            <a:off x="463500" y="1566925"/>
            <a:ext cx="8223300" cy="3232500"/>
          </a:xfrm>
          <a:prstGeom prst="rect">
            <a:avLst/>
          </a:prstGeom>
          <a:noFill/>
          <a:ln>
            <a:noFill/>
          </a:ln>
        </p:spPr>
        <p:txBody>
          <a:bodyPr spcFirstLastPara="1" wrap="square" lIns="91425" tIns="91425" rIns="91425" bIns="91425" anchor="t" anchorCtr="0">
            <a:spAutoFit/>
          </a:bodyPr>
          <a:lstStyle/>
          <a:p>
            <a:pPr marL="0" lvl="0" indent="0" rtl="0">
              <a:spcBef>
                <a:spcPts val="0"/>
              </a:spcBef>
              <a:spcAft>
                <a:spcPts val="0"/>
              </a:spcAft>
              <a:buNone/>
            </a:pPr>
            <a:r>
              <a:rPr lang="en" sz="1800" dirty="0">
                <a:solidFill>
                  <a:schemeClr val="dk2"/>
                </a:solidFill>
                <a:latin typeface="Calibri"/>
                <a:ea typeface="Calibri"/>
                <a:cs typeface="Calibri"/>
                <a:sym typeface="Calibri"/>
              </a:rPr>
              <a:t>There is a wide range of applications. Most automate attention-intensive monitoring of human activities. The final presentation in this series covers applications that fall within the domain of artificial perception:</a:t>
            </a:r>
            <a:endParaRPr sz="1800" dirty="0">
              <a:solidFill>
                <a:schemeClr val="dk2"/>
              </a:solidFill>
              <a:latin typeface="Calibri"/>
              <a:ea typeface="Calibri"/>
              <a:cs typeface="Calibri"/>
              <a:sym typeface="Calibri"/>
            </a:endParaRPr>
          </a:p>
          <a:p>
            <a:pPr marL="0" lvl="0" indent="0" rtl="0">
              <a:spcBef>
                <a:spcPts val="0"/>
              </a:spcBef>
              <a:spcAft>
                <a:spcPts val="0"/>
              </a:spcAft>
              <a:buNone/>
            </a:pPr>
            <a:endParaRPr sz="1800" dirty="0">
              <a:solidFill>
                <a:schemeClr val="dk2"/>
              </a:solidFill>
              <a:latin typeface="Calibri"/>
              <a:ea typeface="Calibri"/>
              <a:cs typeface="Calibri"/>
              <a:sym typeface="Calibri"/>
            </a:endParaRPr>
          </a:p>
          <a:p>
            <a:pPr marL="457200" lvl="0" indent="-342900"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Surveillance, Reconnaissance, and Navigation</a:t>
            </a:r>
            <a:endParaRPr sz="1800" dirty="0">
              <a:solidFill>
                <a:schemeClr val="dk2"/>
              </a:solidFill>
              <a:latin typeface="Calibri"/>
              <a:ea typeface="Calibri"/>
              <a:cs typeface="Calibri"/>
              <a:sym typeface="Calibri"/>
            </a:endParaRPr>
          </a:p>
          <a:p>
            <a:pPr marL="457200" lvl="0" indent="-342900"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Collision Avoidance and Threat Prediction</a:t>
            </a:r>
            <a:endParaRPr sz="1800" dirty="0">
              <a:solidFill>
                <a:schemeClr val="dk2"/>
              </a:solidFill>
              <a:latin typeface="Calibri"/>
              <a:ea typeface="Calibri"/>
              <a:cs typeface="Calibri"/>
              <a:sym typeface="Calibri"/>
            </a:endParaRPr>
          </a:p>
          <a:p>
            <a:pPr marL="457200" lvl="0" indent="-342900"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Crop Inspection</a:t>
            </a:r>
            <a:endParaRPr sz="1800" dirty="0">
              <a:solidFill>
                <a:schemeClr val="dk2"/>
              </a:solidFill>
              <a:latin typeface="Calibri"/>
              <a:ea typeface="Calibri"/>
              <a:cs typeface="Calibri"/>
              <a:sym typeface="Calibri"/>
            </a:endParaRPr>
          </a:p>
          <a:p>
            <a:pPr marL="457200" lvl="0" indent="-342900"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Autonomous Vehicles</a:t>
            </a:r>
            <a:endParaRPr sz="1800" dirty="0">
              <a:solidFill>
                <a:schemeClr val="dk2"/>
              </a:solidFill>
              <a:latin typeface="Calibri"/>
              <a:ea typeface="Calibri"/>
              <a:cs typeface="Calibri"/>
              <a:sym typeface="Calibri"/>
            </a:endParaRPr>
          </a:p>
          <a:p>
            <a:pPr marL="457200" lvl="0" indent="-342900"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Environmental Inventory and Monitoring</a:t>
            </a:r>
            <a:endParaRPr sz="1800" dirty="0">
              <a:solidFill>
                <a:schemeClr val="dk2"/>
              </a:solidFill>
              <a:latin typeface="Calibri"/>
              <a:ea typeface="Calibri"/>
              <a:cs typeface="Calibri"/>
              <a:sym typeface="Calibri"/>
            </a:endParaRPr>
          </a:p>
          <a:p>
            <a:pPr marL="457200" lvl="0" indent="-342900"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Tracking</a:t>
            </a:r>
            <a:endParaRPr sz="1800" dirty="0">
              <a:solidFill>
                <a:schemeClr val="dk2"/>
              </a:solidFill>
              <a:latin typeface="Calibri"/>
              <a:ea typeface="Calibri"/>
              <a:cs typeface="Calibri"/>
              <a:sym typeface="Calibri"/>
            </a:endParaRPr>
          </a:p>
          <a:p>
            <a:pPr marL="457200" lvl="0" indent="-342900"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Privacy Protection - Avatar Substitution</a:t>
            </a:r>
            <a:endParaRPr sz="1800" dirty="0">
              <a:solidFill>
                <a:schemeClr val="dk2"/>
              </a:solidFill>
              <a:latin typeface="Calibri"/>
              <a:ea typeface="Calibri"/>
              <a:cs typeface="Calibri"/>
              <a:sym typeface="Calibri"/>
            </a:endParaRPr>
          </a:p>
        </p:txBody>
      </p:sp>
      <p:pic>
        <p:nvPicPr>
          <p:cNvPr id="177" name="Google Shape;177;p29"/>
          <p:cNvPicPr preferRelativeResize="0"/>
          <p:nvPr/>
        </p:nvPicPr>
        <p:blipFill>
          <a:blip r:embed="rId3">
            <a:alphaModFix/>
          </a:blip>
          <a:stretch>
            <a:fillRect/>
          </a:stretch>
        </p:blipFill>
        <p:spPr>
          <a:xfrm>
            <a:off x="5309100" y="3303625"/>
            <a:ext cx="979821" cy="799225"/>
          </a:xfrm>
          <a:prstGeom prst="rect">
            <a:avLst/>
          </a:prstGeom>
          <a:noFill/>
          <a:ln>
            <a:noFill/>
          </a:ln>
        </p:spPr>
      </p:pic>
      <p:sp>
        <p:nvSpPr>
          <p:cNvPr id="178" name="Google Shape;178;p29"/>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Using Poses</a:t>
            </a:r>
            <a:endParaRPr>
              <a:latin typeface="Calibri"/>
              <a:ea typeface="Calibri"/>
              <a:cs typeface="Calibri"/>
              <a:sym typeface="Calibri"/>
            </a:endParaRPr>
          </a:p>
        </p:txBody>
      </p:sp>
      <p:pic>
        <p:nvPicPr>
          <p:cNvPr id="179" name="Google Shape;179;p29"/>
          <p:cNvPicPr preferRelativeResize="0"/>
          <p:nvPr/>
        </p:nvPicPr>
        <p:blipFill>
          <a:blip r:embed="rId4">
            <a:alphaModFix/>
          </a:blip>
          <a:stretch>
            <a:fillRect/>
          </a:stretch>
        </p:blipFill>
        <p:spPr>
          <a:xfrm>
            <a:off x="7492700" y="2463925"/>
            <a:ext cx="790851" cy="797885"/>
          </a:xfrm>
          <a:prstGeom prst="rect">
            <a:avLst/>
          </a:prstGeom>
          <a:noFill/>
          <a:ln>
            <a:noFill/>
          </a:ln>
        </p:spPr>
      </p:pic>
      <p:pic>
        <p:nvPicPr>
          <p:cNvPr id="180" name="Google Shape;180;p29"/>
          <p:cNvPicPr preferRelativeResize="0"/>
          <p:nvPr/>
        </p:nvPicPr>
        <p:blipFill>
          <a:blip r:embed="rId5">
            <a:alphaModFix/>
          </a:blip>
          <a:stretch>
            <a:fillRect/>
          </a:stretch>
        </p:blipFill>
        <p:spPr>
          <a:xfrm>
            <a:off x="7755900" y="3303637"/>
            <a:ext cx="897025" cy="1298150"/>
          </a:xfrm>
          <a:prstGeom prst="rect">
            <a:avLst/>
          </a:prstGeom>
          <a:noFill/>
          <a:ln>
            <a:noFill/>
          </a:ln>
        </p:spPr>
      </p:pic>
      <p:pic>
        <p:nvPicPr>
          <p:cNvPr id="181" name="Google Shape;181;p29"/>
          <p:cNvPicPr preferRelativeResize="0"/>
          <p:nvPr/>
        </p:nvPicPr>
        <p:blipFill>
          <a:blip r:embed="rId6">
            <a:alphaModFix/>
          </a:blip>
          <a:stretch>
            <a:fillRect/>
          </a:stretch>
        </p:blipFill>
        <p:spPr>
          <a:xfrm>
            <a:off x="6427551" y="2734800"/>
            <a:ext cx="790850" cy="799225"/>
          </a:xfrm>
          <a:prstGeom prst="rect">
            <a:avLst/>
          </a:prstGeom>
          <a:noFill/>
          <a:ln>
            <a:noFill/>
          </a:ln>
        </p:spPr>
      </p:pic>
      <p:pic>
        <p:nvPicPr>
          <p:cNvPr id="182" name="Google Shape;182;p29"/>
          <p:cNvPicPr preferRelativeResize="0"/>
          <p:nvPr/>
        </p:nvPicPr>
        <p:blipFill>
          <a:blip r:embed="rId7">
            <a:alphaModFix/>
          </a:blip>
          <a:stretch>
            <a:fillRect/>
          </a:stretch>
        </p:blipFill>
        <p:spPr>
          <a:xfrm>
            <a:off x="6548299" y="3728996"/>
            <a:ext cx="790850" cy="736279"/>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30"/>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References: Overview</a:t>
            </a:r>
            <a:endParaRPr>
              <a:latin typeface="Calibri"/>
              <a:ea typeface="Calibri"/>
              <a:cs typeface="Calibri"/>
              <a:sym typeface="Calibri"/>
            </a:endParaRPr>
          </a:p>
        </p:txBody>
      </p:sp>
      <p:sp>
        <p:nvSpPr>
          <p:cNvPr id="188" name="Google Shape;188;p30"/>
          <p:cNvSpPr txBox="1"/>
          <p:nvPr/>
        </p:nvSpPr>
        <p:spPr>
          <a:xfrm>
            <a:off x="167775" y="1761675"/>
            <a:ext cx="8520600" cy="3080100"/>
          </a:xfrm>
          <a:prstGeom prst="rect">
            <a:avLst/>
          </a:prstGeom>
          <a:noFill/>
          <a:ln>
            <a:noFill/>
          </a:ln>
        </p:spPr>
        <p:txBody>
          <a:bodyPr spcFirstLastPara="1" wrap="square" lIns="91425" tIns="91425" rIns="91425" bIns="91425" anchor="t" anchorCtr="0">
            <a:spAutoFit/>
          </a:bodyPr>
          <a:lstStyle/>
          <a:p>
            <a:pPr marL="457200" lvl="0" indent="-298450" algn="l" rtl="0">
              <a:lnSpc>
                <a:spcPct val="115000"/>
              </a:lnSpc>
              <a:spcBef>
                <a:spcPts val="1200"/>
              </a:spcBef>
              <a:spcAft>
                <a:spcPts val="0"/>
              </a:spcAft>
              <a:buClr>
                <a:schemeClr val="dk1"/>
              </a:buClr>
              <a:buSzPts val="1100"/>
              <a:buChar char="●"/>
            </a:pPr>
            <a:r>
              <a:rPr lang="en" sz="1100" b="1">
                <a:solidFill>
                  <a:schemeClr val="dk1"/>
                </a:solidFill>
                <a:latin typeface="Calibri"/>
                <a:ea typeface="Calibri"/>
                <a:cs typeface="Calibri"/>
                <a:sym typeface="Calibri"/>
              </a:rPr>
              <a:t>Lima &amp; Dill (1990)</a:t>
            </a:r>
            <a:r>
              <a:rPr lang="en" sz="1100">
                <a:solidFill>
                  <a:schemeClr val="dk1"/>
                </a:solidFill>
                <a:latin typeface="Calibri"/>
                <a:ea typeface="Calibri"/>
                <a:cs typeface="Calibri"/>
                <a:sym typeface="Calibri"/>
              </a:rPr>
              <a:t>. Classic review of decisions under predation risk; frames the vigilance–foraging trade-off.</a:t>
            </a:r>
            <a:r>
              <a:rPr lang="en" sz="1100">
                <a:solidFill>
                  <a:schemeClr val="dk1"/>
                </a:solidFill>
                <a:uFill>
                  <a:noFill/>
                </a:uFill>
                <a:latin typeface="Calibri"/>
                <a:ea typeface="Calibri"/>
                <a:cs typeface="Calibri"/>
                <a:sym typeface="Calibri"/>
                <a:hlinkClick r:id="rId3">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3"/>
              </a:rPr>
              <a:t>gambusia.zo.ncsu.edu</a:t>
            </a:r>
            <a:br>
              <a:rPr lang="en" sz="1100" u="sng">
                <a:solidFill>
                  <a:schemeClr val="hlink"/>
                </a:solidFill>
                <a:latin typeface="Calibri"/>
                <a:ea typeface="Calibri"/>
                <a:cs typeface="Calibri"/>
                <a:sym typeface="Calibri"/>
                <a:hlinkClick r:id="rId3"/>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Lima &amp; Bednekoff (1999/2009)</a:t>
            </a:r>
            <a:r>
              <a:rPr lang="en" sz="1100">
                <a:solidFill>
                  <a:schemeClr val="dk1"/>
                </a:solidFill>
                <a:latin typeface="Calibri"/>
                <a:ea typeface="Calibri"/>
                <a:cs typeface="Calibri"/>
                <a:sym typeface="Calibri"/>
              </a:rPr>
              <a:t>. Risk Allocation Hypothesis and later reassessment; when prey should shift attention across fluctuating danger.</a:t>
            </a:r>
            <a:r>
              <a:rPr lang="en" sz="1100">
                <a:solidFill>
                  <a:schemeClr val="dk1"/>
                </a:solidFill>
                <a:uFill>
                  <a:noFill/>
                </a:uFill>
                <a:latin typeface="Calibri"/>
                <a:ea typeface="Calibri"/>
                <a:cs typeface="Calibri"/>
                <a:sym typeface="Calibri"/>
                <a:hlinkClick r:id="rId4">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4"/>
              </a:rPr>
              <a:t>Cell</a:t>
            </a:r>
            <a:r>
              <a:rPr lang="en" sz="1100" u="sng">
                <a:solidFill>
                  <a:schemeClr val="hlink"/>
                </a:solidFill>
                <a:latin typeface="Calibri"/>
                <a:ea typeface="Calibri"/>
                <a:cs typeface="Calibri"/>
                <a:sym typeface="Calibri"/>
                <a:hlinkClick r:id="rId5"/>
              </a:rPr>
              <a:t>ScienceDirect</a:t>
            </a:r>
            <a:r>
              <a:rPr lang="en" sz="1100" u="sng">
                <a:solidFill>
                  <a:schemeClr val="hlink"/>
                </a:solidFill>
                <a:latin typeface="Calibri"/>
                <a:ea typeface="Calibri"/>
                <a:cs typeface="Calibri"/>
                <a:sym typeface="Calibri"/>
                <a:hlinkClick r:id="rId6"/>
              </a:rPr>
              <a:t>jstor.org</a:t>
            </a:r>
            <a:br>
              <a:rPr lang="en" sz="1100" u="sng">
                <a:solidFill>
                  <a:schemeClr val="hlink"/>
                </a:solidFill>
                <a:latin typeface="Calibri"/>
                <a:ea typeface="Calibri"/>
                <a:cs typeface="Calibri"/>
                <a:sym typeface="Calibri"/>
                <a:hlinkClick r:id="rId6"/>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Laundré et al. (2010)</a:t>
            </a:r>
            <a:r>
              <a:rPr lang="en" sz="1100">
                <a:solidFill>
                  <a:schemeClr val="dk1"/>
                </a:solidFill>
                <a:latin typeface="Calibri"/>
                <a:ea typeface="Calibri"/>
                <a:cs typeface="Calibri"/>
                <a:sym typeface="Calibri"/>
              </a:rPr>
              <a:t>; </a:t>
            </a:r>
            <a:r>
              <a:rPr lang="en" sz="1100" b="1">
                <a:solidFill>
                  <a:schemeClr val="dk1"/>
                </a:solidFill>
                <a:latin typeface="Calibri"/>
                <a:ea typeface="Calibri"/>
                <a:cs typeface="Calibri"/>
                <a:sym typeface="Calibri"/>
              </a:rPr>
              <a:t>Palmer et al. (2019)</a:t>
            </a:r>
            <a:r>
              <a:rPr lang="en" sz="1100">
                <a:solidFill>
                  <a:schemeClr val="dk1"/>
                </a:solidFill>
                <a:latin typeface="Calibri"/>
                <a:ea typeface="Calibri"/>
                <a:cs typeface="Calibri"/>
                <a:sym typeface="Calibri"/>
              </a:rPr>
              <a:t>; </a:t>
            </a:r>
            <a:r>
              <a:rPr lang="en" sz="1100" b="1">
                <a:solidFill>
                  <a:schemeClr val="dk1"/>
                </a:solidFill>
                <a:latin typeface="Calibri"/>
                <a:ea typeface="Calibri"/>
                <a:cs typeface="Calibri"/>
                <a:sym typeface="Calibri"/>
              </a:rPr>
              <a:t>Gaynor et al. (2017)</a:t>
            </a:r>
            <a:r>
              <a:rPr lang="en" sz="1100">
                <a:solidFill>
                  <a:schemeClr val="dk1"/>
                </a:solidFill>
                <a:latin typeface="Calibri"/>
                <a:ea typeface="Calibri"/>
                <a:cs typeface="Calibri"/>
                <a:sym typeface="Calibri"/>
              </a:rPr>
              <a:t>. “Landscape of fear” concept and updates—spatial patterns of perceived risk shaping posture/vigilance and space use.</a:t>
            </a:r>
            <a:r>
              <a:rPr lang="en" sz="1100">
                <a:solidFill>
                  <a:schemeClr val="dk1"/>
                </a:solidFill>
                <a:uFill>
                  <a:noFill/>
                </a:uFill>
                <a:latin typeface="Calibri"/>
                <a:ea typeface="Calibri"/>
                <a:cs typeface="Calibri"/>
                <a:sym typeface="Calibri"/>
                <a:hlinkClick r:id="rId7">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7"/>
              </a:rPr>
              <a:t>predatordefense.org</a:t>
            </a:r>
            <a:r>
              <a:rPr lang="en" sz="1100" u="sng">
                <a:solidFill>
                  <a:schemeClr val="hlink"/>
                </a:solidFill>
                <a:latin typeface="Calibri"/>
                <a:ea typeface="Calibri"/>
                <a:cs typeface="Calibri"/>
                <a:sym typeface="Calibri"/>
                <a:hlinkClick r:id="rId8"/>
              </a:rPr>
              <a:t>ScienceDirect</a:t>
            </a:r>
            <a:r>
              <a:rPr lang="en" sz="1100" u="sng">
                <a:solidFill>
                  <a:schemeClr val="hlink"/>
                </a:solidFill>
                <a:latin typeface="Calibri"/>
                <a:ea typeface="Calibri"/>
                <a:cs typeface="Calibri"/>
                <a:sym typeface="Calibri"/>
                <a:hlinkClick r:id="rId9"/>
              </a:rPr>
              <a:t>peerj.com</a:t>
            </a:r>
            <a:br>
              <a:rPr lang="en" sz="1100" u="sng">
                <a:solidFill>
                  <a:schemeClr val="hlink"/>
                </a:solidFill>
                <a:latin typeface="Calibri"/>
                <a:ea typeface="Calibri"/>
                <a:cs typeface="Calibri"/>
                <a:sym typeface="Calibri"/>
                <a:hlinkClick r:id="rId9"/>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Brown (1988)</a:t>
            </a:r>
            <a:r>
              <a:rPr lang="en" sz="1100">
                <a:solidFill>
                  <a:schemeClr val="dk1"/>
                </a:solidFill>
                <a:latin typeface="Calibri"/>
                <a:ea typeface="Calibri"/>
                <a:cs typeface="Calibri"/>
                <a:sym typeface="Calibri"/>
              </a:rPr>
              <a:t>. “Giving-up densities” (GUD): patch-leaving as a readout of foraging vs. fear costs.</a:t>
            </a:r>
            <a:r>
              <a:rPr lang="en" sz="1100">
                <a:solidFill>
                  <a:schemeClr val="dk1"/>
                </a:solidFill>
                <a:uFill>
                  <a:noFill/>
                </a:u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10"/>
              </a:rPr>
              <a:t>SpringerLink</a:t>
            </a:r>
            <a:br>
              <a:rPr lang="en" sz="1100" u="sng">
                <a:solidFill>
                  <a:schemeClr val="hlink"/>
                </a:solidFill>
                <a:latin typeface="Calibri"/>
                <a:ea typeface="Calibri"/>
                <a:cs typeface="Calibri"/>
                <a:sym typeface="Calibri"/>
                <a:hlinkClick r:id="rId10"/>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Stephens &amp; Krebs (1986)</a:t>
            </a:r>
            <a:r>
              <a:rPr lang="en" sz="1100">
                <a:solidFill>
                  <a:schemeClr val="dk1"/>
                </a:solidFill>
                <a:latin typeface="Calibri"/>
                <a:ea typeface="Calibri"/>
                <a:cs typeface="Calibri"/>
                <a:sym typeface="Calibri"/>
              </a:rPr>
              <a:t>. Foraging Theory (monograph) — core models behind attention to food vs. danger.</a:t>
            </a:r>
            <a:r>
              <a:rPr lang="en" sz="1100">
                <a:solidFill>
                  <a:schemeClr val="dk1"/>
                </a:solidFill>
                <a:uFill>
                  <a:noFill/>
                </a:uFill>
                <a:latin typeface="Calibri"/>
                <a:ea typeface="Calibri"/>
                <a:cs typeface="Calibri"/>
                <a:sym typeface="Calibri"/>
                <a:hlinkClick r:id="rId11">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11"/>
              </a:rPr>
              <a:t>books.google.com</a:t>
            </a:r>
            <a:br>
              <a:rPr lang="en" sz="1100" u="sng">
                <a:solidFill>
                  <a:schemeClr val="hlink"/>
                </a:solidFill>
                <a:latin typeface="Calibri"/>
                <a:ea typeface="Calibri"/>
                <a:cs typeface="Calibri"/>
                <a:sym typeface="Calibri"/>
                <a:hlinkClick r:id="rId11"/>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Brown &amp; Kotler (2004)</a:t>
            </a:r>
            <a:r>
              <a:rPr lang="en" sz="1100">
                <a:solidFill>
                  <a:schemeClr val="dk1"/>
                </a:solidFill>
                <a:latin typeface="Calibri"/>
                <a:ea typeface="Calibri"/>
                <a:cs typeface="Calibri"/>
                <a:sym typeface="Calibri"/>
              </a:rPr>
              <a:t>. “Hazardous duty pay” review—quantifying the foraging cost of predation.</a:t>
            </a:r>
            <a:r>
              <a:rPr lang="en" sz="1100">
                <a:solidFill>
                  <a:schemeClr val="dk1"/>
                </a:solidFill>
                <a:uFill>
                  <a:noFill/>
                </a:uFill>
                <a:latin typeface="Calibri"/>
                <a:ea typeface="Calibri"/>
                <a:cs typeface="Calibri"/>
                <a:sym typeface="Calibri"/>
                <a:hlinkClick r:id="rId12">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12"/>
              </a:rPr>
              <a:t>Wiley Online Library</a:t>
            </a:r>
            <a:br>
              <a:rPr lang="en" sz="1100" u="sng">
                <a:solidFill>
                  <a:schemeClr val="hlink"/>
                </a:solidFill>
                <a:latin typeface="Calibri"/>
                <a:ea typeface="Calibri"/>
                <a:cs typeface="Calibri"/>
                <a:sym typeface="Calibri"/>
                <a:hlinkClick r:id="rId12"/>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Kotler et al. (2006)</a:t>
            </a:r>
            <a:r>
              <a:rPr lang="en" sz="1100">
                <a:solidFill>
                  <a:schemeClr val="dk1"/>
                </a:solidFill>
                <a:latin typeface="Calibri"/>
                <a:ea typeface="Calibri"/>
                <a:cs typeface="Calibri"/>
                <a:sym typeface="Calibri"/>
              </a:rPr>
              <a:t>. Meta-analysis using GUDs to measure fear–foraging trade-offs.</a:t>
            </a:r>
            <a:r>
              <a:rPr lang="en" sz="1100">
                <a:solidFill>
                  <a:schemeClr val="dk1"/>
                </a:solidFill>
                <a:uFill>
                  <a:noFill/>
                </a:uFill>
                <a:latin typeface="Calibri"/>
                <a:ea typeface="Calibri"/>
                <a:cs typeface="Calibri"/>
                <a:sym typeface="Calibri"/>
                <a:hlinkClick r:id="rId13">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13"/>
              </a:rPr>
              <a:t>SpringerLink</a:t>
            </a:r>
            <a:endParaRPr sz="1100">
              <a:solidFill>
                <a:schemeClr val="dk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1"/>
          <p:cNvSpPr txBox="1">
            <a:spLocks noGrp="1"/>
          </p:cNvSpPr>
          <p:nvPr>
            <p:ph type="ctrTitle"/>
          </p:nvPr>
        </p:nvSpPr>
        <p:spPr>
          <a:xfrm>
            <a:off x="0" y="744575"/>
            <a:ext cx="91440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References: Vigilance in Groups</a:t>
            </a:r>
            <a:endParaRPr>
              <a:latin typeface="Calibri"/>
              <a:ea typeface="Calibri"/>
              <a:cs typeface="Calibri"/>
              <a:sym typeface="Calibri"/>
            </a:endParaRPr>
          </a:p>
        </p:txBody>
      </p:sp>
      <p:sp>
        <p:nvSpPr>
          <p:cNvPr id="194" name="Google Shape;194;p31"/>
          <p:cNvSpPr txBox="1"/>
          <p:nvPr/>
        </p:nvSpPr>
        <p:spPr>
          <a:xfrm>
            <a:off x="167775" y="1761675"/>
            <a:ext cx="8520600" cy="3274800"/>
          </a:xfrm>
          <a:prstGeom prst="rect">
            <a:avLst/>
          </a:prstGeom>
          <a:noFill/>
          <a:ln>
            <a:noFill/>
          </a:ln>
        </p:spPr>
        <p:txBody>
          <a:bodyPr spcFirstLastPara="1" wrap="square" lIns="91425" tIns="91425" rIns="91425" bIns="91425" anchor="t" anchorCtr="0">
            <a:spAutoFit/>
          </a:bodyPr>
          <a:lstStyle/>
          <a:p>
            <a:pPr marL="457200" lvl="0" indent="-298450" algn="l" rtl="0">
              <a:lnSpc>
                <a:spcPct val="115000"/>
              </a:lnSpc>
              <a:spcBef>
                <a:spcPts val="1200"/>
              </a:spcBef>
              <a:spcAft>
                <a:spcPts val="0"/>
              </a:spcAft>
              <a:buClr>
                <a:schemeClr val="dk1"/>
              </a:buClr>
              <a:buSzPts val="1100"/>
              <a:buChar char="●"/>
            </a:pPr>
            <a:r>
              <a:rPr lang="en" sz="1100" b="1">
                <a:solidFill>
                  <a:schemeClr val="dk1"/>
                </a:solidFill>
                <a:latin typeface="Calibri"/>
                <a:ea typeface="Calibri"/>
                <a:cs typeface="Calibri"/>
                <a:sym typeface="Calibri"/>
              </a:rPr>
              <a:t>Elgar (1989)</a:t>
            </a:r>
            <a:r>
              <a:rPr lang="en" sz="1100">
                <a:solidFill>
                  <a:schemeClr val="dk1"/>
                </a:solidFill>
                <a:latin typeface="Calibri"/>
                <a:ea typeface="Calibri"/>
                <a:cs typeface="Calibri"/>
                <a:sym typeface="Calibri"/>
              </a:rPr>
              <a:t>. Critical review of the group-size effect on vigilance.</a:t>
            </a:r>
            <a:r>
              <a:rPr lang="en" sz="1100">
                <a:solidFill>
                  <a:schemeClr val="dk1"/>
                </a:solidFill>
                <a:uFill>
                  <a:noFill/>
                </a:uFill>
                <a:latin typeface="Calibri"/>
                <a:ea typeface="Calibri"/>
                <a:cs typeface="Calibri"/>
                <a:sym typeface="Calibri"/>
                <a:hlinkClick r:id="rId3">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3"/>
              </a:rPr>
              <a:t>findanexpert.unimelb.edu.au</a:t>
            </a:r>
            <a:br>
              <a:rPr lang="en" sz="1100" u="sng">
                <a:solidFill>
                  <a:schemeClr val="hlink"/>
                </a:solidFill>
                <a:latin typeface="Calibri"/>
                <a:ea typeface="Calibri"/>
                <a:cs typeface="Calibri"/>
                <a:sym typeface="Calibri"/>
                <a:hlinkClick r:id="rId3"/>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Quenette (1990)</a:t>
            </a:r>
            <a:r>
              <a:rPr lang="en" sz="1100">
                <a:solidFill>
                  <a:schemeClr val="dk1"/>
                </a:solidFill>
                <a:latin typeface="Calibri"/>
                <a:ea typeface="Calibri"/>
                <a:cs typeface="Calibri"/>
                <a:sym typeface="Calibri"/>
              </a:rPr>
              <a:t>. Functions of vigilance in mammals—predator detection, monitoring conspecifics, food location, kleptoparasitism avoidance.</a:t>
            </a:r>
            <a:r>
              <a:rPr lang="en" sz="1100">
                <a:solidFill>
                  <a:schemeClr val="dk1"/>
                </a:solidFill>
                <a:uFill>
                  <a:noFill/>
                </a:uFill>
                <a:latin typeface="Calibri"/>
                <a:ea typeface="Calibri"/>
                <a:cs typeface="Calibri"/>
                <a:sym typeface="Calibri"/>
                <a:hlinkClick r:id="rId4">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4"/>
              </a:rPr>
              <a:t>ResearchGate</a:t>
            </a:r>
            <a:br>
              <a:rPr lang="en" sz="1100" u="sng">
                <a:solidFill>
                  <a:schemeClr val="hlink"/>
                </a:solidFill>
                <a:latin typeface="Calibri"/>
                <a:ea typeface="Calibri"/>
                <a:cs typeface="Calibri"/>
                <a:sym typeface="Calibri"/>
                <a:hlinkClick r:id="rId4"/>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Beauchamp (2008, 2021)</a:t>
            </a:r>
            <a:r>
              <a:rPr lang="en" sz="1100">
                <a:solidFill>
                  <a:schemeClr val="dk1"/>
                </a:solidFill>
                <a:latin typeface="Calibri"/>
                <a:ea typeface="Calibri"/>
                <a:cs typeface="Calibri"/>
                <a:sym typeface="Calibri"/>
              </a:rPr>
              <a:t>. Meta-analyses (birds; then mammals) quantifying how vigilance scales with group size and context.</a:t>
            </a:r>
            <a:r>
              <a:rPr lang="en" sz="1100">
                <a:solidFill>
                  <a:schemeClr val="dk1"/>
                </a:solidFill>
                <a:uFill>
                  <a:noFill/>
                </a:uFill>
                <a:latin typeface="Calibri"/>
                <a:ea typeface="Calibri"/>
                <a:cs typeface="Calibri"/>
                <a:sym typeface="Calibri"/>
                <a:hlinkClick r:id="rId5">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5"/>
              </a:rPr>
              <a:t>academic.oup.com+1</a:t>
            </a:r>
            <a:br>
              <a:rPr lang="en" sz="1100" u="sng">
                <a:solidFill>
                  <a:schemeClr val="hlink"/>
                </a:solidFill>
                <a:latin typeface="Calibri"/>
                <a:ea typeface="Calibri"/>
                <a:cs typeface="Calibri"/>
                <a:sym typeface="Calibri"/>
                <a:hlinkClick r:id="rId5"/>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Rodríguez-Gironés &amp; Vásquez (2002)</a:t>
            </a:r>
            <a:r>
              <a:rPr lang="en" sz="1100">
                <a:solidFill>
                  <a:schemeClr val="dk1"/>
                </a:solidFill>
                <a:latin typeface="Calibri"/>
                <a:ea typeface="Calibri"/>
                <a:cs typeface="Calibri"/>
                <a:sym typeface="Calibri"/>
              </a:rPr>
              <a:t>; </a:t>
            </a:r>
            <a:r>
              <a:rPr lang="en" sz="1100" b="1">
                <a:solidFill>
                  <a:schemeClr val="dk1"/>
                </a:solidFill>
                <a:latin typeface="Calibri"/>
                <a:ea typeface="Calibri"/>
                <a:cs typeface="Calibri"/>
                <a:sym typeface="Calibri"/>
              </a:rPr>
              <a:t>Roberts (1996)</a:t>
            </a:r>
            <a:r>
              <a:rPr lang="en" sz="1100">
                <a:solidFill>
                  <a:schemeClr val="dk1"/>
                </a:solidFill>
                <a:latin typeface="Calibri"/>
                <a:ea typeface="Calibri"/>
                <a:cs typeface="Calibri"/>
                <a:sym typeface="Calibri"/>
              </a:rPr>
              <a:t>. Mechanisms behind the group-size effect &amp; “many-eyes/dilution” hypotheses.</a:t>
            </a:r>
            <a:r>
              <a:rPr lang="en" sz="1100">
                <a:solidFill>
                  <a:schemeClr val="dk1"/>
                </a:solidFill>
                <a:uFill>
                  <a:noFill/>
                </a:uFill>
                <a:latin typeface="Calibri"/>
                <a:ea typeface="Calibri"/>
                <a:cs typeface="Calibri"/>
                <a:sym typeface="Calibri"/>
                <a:hlinkClick r:id="rId6">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6"/>
              </a:rPr>
              <a:t>ScienceDirect</a:t>
            </a:r>
            <a:r>
              <a:rPr lang="en" sz="1100" u="sng">
                <a:solidFill>
                  <a:schemeClr val="hlink"/>
                </a:solidFill>
                <a:latin typeface="Calibri"/>
                <a:ea typeface="Calibri"/>
                <a:cs typeface="Calibri"/>
                <a:sym typeface="Calibri"/>
                <a:hlinkClick r:id="rId7"/>
              </a:rPr>
              <a:t>faculty.washington.edu</a:t>
            </a:r>
            <a:br>
              <a:rPr lang="en" sz="1100" u="sng">
                <a:solidFill>
                  <a:schemeClr val="hlink"/>
                </a:solidFill>
                <a:latin typeface="Calibri"/>
                <a:ea typeface="Calibri"/>
                <a:cs typeface="Calibri"/>
                <a:sym typeface="Calibri"/>
                <a:hlinkClick r:id="rId7"/>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Bednekoff (2015)</a:t>
            </a:r>
            <a:r>
              <a:rPr lang="en" sz="1100">
                <a:solidFill>
                  <a:schemeClr val="dk1"/>
                </a:solidFill>
                <a:latin typeface="Calibri"/>
                <a:ea typeface="Calibri"/>
                <a:cs typeface="Calibri"/>
                <a:sym typeface="Calibri"/>
              </a:rPr>
              <a:t>; </a:t>
            </a:r>
            <a:r>
              <a:rPr lang="en" sz="1100" b="1">
                <a:solidFill>
                  <a:schemeClr val="dk1"/>
                </a:solidFill>
                <a:latin typeface="Calibri"/>
                <a:ea typeface="Calibri"/>
                <a:cs typeface="Calibri"/>
                <a:sym typeface="Calibri"/>
              </a:rPr>
              <a:t>Hollen et al. (2010)</a:t>
            </a:r>
            <a:r>
              <a:rPr lang="en" sz="1100">
                <a:solidFill>
                  <a:schemeClr val="dk1"/>
                </a:solidFill>
                <a:latin typeface="Calibri"/>
                <a:ea typeface="Calibri"/>
                <a:cs typeface="Calibri"/>
                <a:sym typeface="Calibri"/>
              </a:rPr>
              <a:t>. Reviews/empirical work on </a:t>
            </a:r>
            <a:r>
              <a:rPr lang="en" sz="1100" b="1">
                <a:solidFill>
                  <a:schemeClr val="dk1"/>
                </a:solidFill>
                <a:latin typeface="Calibri"/>
                <a:ea typeface="Calibri"/>
                <a:cs typeface="Calibri"/>
                <a:sym typeface="Calibri"/>
              </a:rPr>
              <a:t>sentinel systems</a:t>
            </a:r>
            <a:r>
              <a:rPr lang="en" sz="1100">
                <a:solidFill>
                  <a:schemeClr val="dk1"/>
                </a:solidFill>
                <a:latin typeface="Calibri"/>
                <a:ea typeface="Calibri"/>
                <a:cs typeface="Calibri"/>
                <a:sym typeface="Calibri"/>
              </a:rPr>
              <a:t> in birds &amp; mammals, including coordination by calls.</a:t>
            </a:r>
            <a:r>
              <a:rPr lang="en" sz="1100">
                <a:solidFill>
                  <a:schemeClr val="dk1"/>
                </a:solidFill>
                <a:uFill>
                  <a:noFill/>
                </a:uFill>
                <a:latin typeface="Calibri"/>
                <a:ea typeface="Calibri"/>
                <a:cs typeface="Calibri"/>
                <a:sym typeface="Calibri"/>
                <a:hlinkClick r:id="rId8">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8"/>
              </a:rPr>
              <a:t>SpringerLink</a:t>
            </a:r>
            <a:r>
              <a:rPr lang="en" sz="1100" u="sng">
                <a:solidFill>
                  <a:schemeClr val="hlink"/>
                </a:solidFill>
                <a:latin typeface="Calibri"/>
                <a:ea typeface="Calibri"/>
                <a:cs typeface="Calibri"/>
                <a:sym typeface="Calibri"/>
                <a:hlinkClick r:id="rId9"/>
              </a:rPr>
              <a:t>PLOS</a:t>
            </a:r>
            <a:br>
              <a:rPr lang="en" sz="1100" u="sng">
                <a:solidFill>
                  <a:schemeClr val="hlink"/>
                </a:solidFill>
                <a:latin typeface="Calibri"/>
                <a:ea typeface="Calibri"/>
                <a:cs typeface="Calibri"/>
                <a:sym typeface="Calibri"/>
                <a:hlinkClick r:id="rId9"/>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Ridley et al. (2013); Wright et al. (2001)</a:t>
            </a:r>
            <a:r>
              <a:rPr lang="en" sz="1100">
                <a:solidFill>
                  <a:schemeClr val="dk1"/>
                </a:solidFill>
                <a:latin typeface="Calibri"/>
                <a:ea typeface="Calibri"/>
                <a:cs typeface="Calibri"/>
                <a:sym typeface="Calibri"/>
              </a:rPr>
              <a:t>. Are sentinels “safe/selfish”? Tests in pied babblers and other cooperative species.</a:t>
            </a:r>
            <a:r>
              <a:rPr lang="en" sz="1100">
                <a:solidFill>
                  <a:schemeClr val="dk1"/>
                </a:solidFill>
                <a:uFill>
                  <a:noFill/>
                </a:u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10"/>
              </a:rPr>
              <a:t>ScienceDirect</a:t>
            </a:r>
            <a:r>
              <a:rPr lang="en" sz="1100" u="sng">
                <a:solidFill>
                  <a:schemeClr val="hlink"/>
                </a:solidFill>
                <a:latin typeface="Calibri"/>
                <a:ea typeface="Calibri"/>
                <a:cs typeface="Calibri"/>
                <a:sym typeface="Calibri"/>
                <a:hlinkClick r:id="rId11"/>
              </a:rPr>
              <a:t>besjournals.onlinelibrary.wiley.com</a:t>
            </a:r>
            <a:endParaRPr sz="11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2"/>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References: Pose and Vision</a:t>
            </a:r>
            <a:endParaRPr>
              <a:latin typeface="Calibri"/>
              <a:ea typeface="Calibri"/>
              <a:cs typeface="Calibri"/>
              <a:sym typeface="Calibri"/>
            </a:endParaRPr>
          </a:p>
        </p:txBody>
      </p:sp>
      <p:sp>
        <p:nvSpPr>
          <p:cNvPr id="200" name="Google Shape;200;p32"/>
          <p:cNvSpPr txBox="1"/>
          <p:nvPr/>
        </p:nvSpPr>
        <p:spPr>
          <a:xfrm>
            <a:off x="167775" y="1761675"/>
            <a:ext cx="8520600" cy="2106300"/>
          </a:xfrm>
          <a:prstGeom prst="rect">
            <a:avLst/>
          </a:prstGeom>
          <a:noFill/>
          <a:ln>
            <a:noFill/>
          </a:ln>
        </p:spPr>
        <p:txBody>
          <a:bodyPr spcFirstLastPara="1" wrap="square" lIns="91425" tIns="91425" rIns="91425" bIns="91425" anchor="t" anchorCtr="0">
            <a:spAutoFit/>
          </a:bodyPr>
          <a:lstStyle/>
          <a:p>
            <a:pPr marL="457200" lvl="0" indent="-298450" algn="l" rtl="0">
              <a:lnSpc>
                <a:spcPct val="115000"/>
              </a:lnSpc>
              <a:spcBef>
                <a:spcPts val="1200"/>
              </a:spcBef>
              <a:spcAft>
                <a:spcPts val="0"/>
              </a:spcAft>
              <a:buClr>
                <a:schemeClr val="dk1"/>
              </a:buClr>
              <a:buSzPts val="1100"/>
              <a:buChar char="●"/>
            </a:pPr>
            <a:r>
              <a:rPr lang="en" sz="1100" b="1">
                <a:solidFill>
                  <a:schemeClr val="dk1"/>
                </a:solidFill>
                <a:latin typeface="Calibri"/>
                <a:ea typeface="Calibri"/>
                <a:cs typeface="Calibri"/>
                <a:sym typeface="Calibri"/>
              </a:rPr>
              <a:t>Fernández-Juricic et al. (2012)</a:t>
            </a:r>
            <a:r>
              <a:rPr lang="en" sz="1100">
                <a:solidFill>
                  <a:schemeClr val="dk1"/>
                </a:solidFill>
                <a:latin typeface="Calibri"/>
                <a:ea typeface="Calibri"/>
                <a:cs typeface="Calibri"/>
                <a:sym typeface="Calibri"/>
              </a:rPr>
              <a:t>. Sensory basis of vigilance—how visual fields drive scanning/head movements.</a:t>
            </a:r>
            <a:r>
              <a:rPr lang="en" sz="1100">
                <a:solidFill>
                  <a:schemeClr val="dk1"/>
                </a:solidFill>
                <a:uFill>
                  <a:noFill/>
                </a:uFill>
                <a:latin typeface="Calibri"/>
                <a:ea typeface="Calibri"/>
                <a:cs typeface="Calibri"/>
                <a:sym typeface="Calibri"/>
                <a:hlinkClick r:id="rId3">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3"/>
              </a:rPr>
              <a:t>ScienceDirect</a:t>
            </a:r>
            <a:br>
              <a:rPr lang="en" sz="1100" u="sng">
                <a:solidFill>
                  <a:schemeClr val="hlink"/>
                </a:solidFill>
                <a:latin typeface="Calibri"/>
                <a:ea typeface="Calibri"/>
                <a:cs typeface="Calibri"/>
                <a:sym typeface="Calibri"/>
                <a:hlinkClick r:id="rId3"/>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Jones et al. (2007)</a:t>
            </a:r>
            <a:r>
              <a:rPr lang="en" sz="1100">
                <a:solidFill>
                  <a:schemeClr val="dk1"/>
                </a:solidFill>
                <a:latin typeface="Calibri"/>
                <a:ea typeface="Calibri"/>
                <a:cs typeface="Calibri"/>
                <a:sym typeface="Calibri"/>
              </a:rPr>
              <a:t>; </a:t>
            </a:r>
            <a:r>
              <a:rPr lang="en" sz="1100" b="1">
                <a:solidFill>
                  <a:schemeClr val="dk1"/>
                </a:solidFill>
                <a:latin typeface="Calibri"/>
                <a:ea typeface="Calibri"/>
                <a:cs typeface="Calibri"/>
                <a:sym typeface="Calibri"/>
              </a:rPr>
              <a:t>Bergman &amp; Beauchamp (2011)</a:t>
            </a:r>
            <a:r>
              <a:rPr lang="en" sz="1100">
                <a:solidFill>
                  <a:schemeClr val="dk1"/>
                </a:solidFill>
                <a:latin typeface="Calibri"/>
                <a:ea typeface="Calibri"/>
                <a:cs typeface="Calibri"/>
                <a:sym typeface="Calibri"/>
              </a:rPr>
              <a:t>. Head-movement rate (not just scan duration) as a key posture-based vigilance metric; peripheral individuals turn heads more.</a:t>
            </a:r>
            <a:r>
              <a:rPr lang="en" sz="1100">
                <a:solidFill>
                  <a:schemeClr val="dk1"/>
                </a:solidFill>
                <a:uFill>
                  <a:noFill/>
                </a:uFill>
                <a:latin typeface="Calibri"/>
                <a:ea typeface="Calibri"/>
                <a:cs typeface="Calibri"/>
                <a:sym typeface="Calibri"/>
                <a:hlinkClick r:id="rId4">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4"/>
              </a:rPr>
              <a:t>ScienceDirect+1</a:t>
            </a:r>
            <a:br>
              <a:rPr lang="en" sz="1100" u="sng">
                <a:solidFill>
                  <a:schemeClr val="hlink"/>
                </a:solidFill>
                <a:latin typeface="Calibri"/>
                <a:ea typeface="Calibri"/>
                <a:cs typeface="Calibri"/>
                <a:sym typeface="Calibri"/>
                <a:hlinkClick r:id="rId4"/>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Fernández-Juricic et al. (2009/2010)</a:t>
            </a:r>
            <a:r>
              <a:rPr lang="en" sz="1100">
                <a:solidFill>
                  <a:schemeClr val="dk1"/>
                </a:solidFill>
                <a:latin typeface="Calibri"/>
                <a:ea typeface="Calibri"/>
                <a:cs typeface="Calibri"/>
                <a:sym typeface="Calibri"/>
              </a:rPr>
              <a:t>. Visual field configuration predicts predator-detection postures and head orientation in birds.</a:t>
            </a:r>
            <a:r>
              <a:rPr lang="en" sz="1100">
                <a:solidFill>
                  <a:schemeClr val="dk1"/>
                </a:solidFill>
                <a:uFill>
                  <a:noFill/>
                </a:uFill>
                <a:latin typeface="Calibri"/>
                <a:ea typeface="Calibri"/>
                <a:cs typeface="Calibri"/>
                <a:sym typeface="Calibri"/>
                <a:hlinkClick r:id="rId5">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5"/>
              </a:rPr>
              <a:t>academic.oup.com</a:t>
            </a:r>
            <a:r>
              <a:rPr lang="en" sz="1100" u="sng">
                <a:solidFill>
                  <a:schemeClr val="hlink"/>
                </a:solidFill>
                <a:latin typeface="Calibri"/>
                <a:ea typeface="Calibri"/>
                <a:cs typeface="Calibri"/>
                <a:sym typeface="Calibri"/>
                <a:hlinkClick r:id="rId6"/>
              </a:rPr>
              <a:t>ScienceDirect</a:t>
            </a:r>
            <a:br>
              <a:rPr lang="en" sz="1100" u="sng">
                <a:solidFill>
                  <a:schemeClr val="hlink"/>
                </a:solidFill>
                <a:latin typeface="Calibri"/>
                <a:ea typeface="Calibri"/>
                <a:cs typeface="Calibri"/>
                <a:sym typeface="Calibri"/>
                <a:hlinkClick r:id="rId6"/>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Typology papers</a:t>
            </a:r>
            <a:r>
              <a:rPr lang="en" sz="1100">
                <a:solidFill>
                  <a:schemeClr val="dk1"/>
                </a:solidFill>
                <a:latin typeface="Calibri"/>
                <a:ea typeface="Calibri"/>
                <a:cs typeface="Calibri"/>
                <a:sym typeface="Calibri"/>
              </a:rPr>
              <a:t> describing </a:t>
            </a:r>
            <a:r>
              <a:rPr lang="en" sz="1100" b="1">
                <a:solidFill>
                  <a:schemeClr val="dk1"/>
                </a:solidFill>
                <a:latin typeface="Calibri"/>
                <a:ea typeface="Calibri"/>
                <a:cs typeface="Calibri"/>
                <a:sym typeface="Calibri"/>
              </a:rPr>
              <a:t>“head-up”</a:t>
            </a:r>
            <a:r>
              <a:rPr lang="en" sz="1100">
                <a:solidFill>
                  <a:schemeClr val="dk1"/>
                </a:solidFill>
                <a:latin typeface="Calibri"/>
                <a:ea typeface="Calibri"/>
                <a:cs typeface="Calibri"/>
                <a:sym typeface="Calibri"/>
              </a:rPr>
              <a:t> vigilant postures (e.g., wild boar) useful for pose scoring in the field.</a:t>
            </a:r>
            <a:r>
              <a:rPr lang="en" sz="1100">
                <a:solidFill>
                  <a:schemeClr val="dk1"/>
                </a:solidFill>
                <a:uFill>
                  <a:noFill/>
                </a:uFill>
                <a:latin typeface="Calibri"/>
                <a:ea typeface="Calibri"/>
                <a:cs typeface="Calibri"/>
                <a:sym typeface="Calibri"/>
                <a:hlinkClick r:id="rId7">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7"/>
              </a:rPr>
              <a:t>etoecoevo.org</a:t>
            </a:r>
            <a:br>
              <a:rPr lang="en" sz="1100" u="sng">
                <a:solidFill>
                  <a:schemeClr val="hlink"/>
                </a:solidFill>
                <a:latin typeface="Calibri"/>
                <a:ea typeface="Calibri"/>
                <a:cs typeface="Calibri"/>
                <a:sym typeface="Calibri"/>
                <a:hlinkClick r:id="rId7"/>
              </a:rPr>
            </a:br>
            <a:endParaRPr sz="11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33"/>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References: Gaze Following</a:t>
            </a:r>
            <a:endParaRPr>
              <a:latin typeface="Calibri"/>
              <a:ea typeface="Calibri"/>
              <a:cs typeface="Calibri"/>
              <a:sym typeface="Calibri"/>
            </a:endParaRPr>
          </a:p>
        </p:txBody>
      </p:sp>
      <p:sp>
        <p:nvSpPr>
          <p:cNvPr id="206" name="Google Shape;206;p33"/>
          <p:cNvSpPr txBox="1"/>
          <p:nvPr/>
        </p:nvSpPr>
        <p:spPr>
          <a:xfrm>
            <a:off x="167775" y="1761675"/>
            <a:ext cx="8520600" cy="2301000"/>
          </a:xfrm>
          <a:prstGeom prst="rect">
            <a:avLst/>
          </a:prstGeom>
          <a:noFill/>
          <a:ln>
            <a:noFill/>
          </a:ln>
        </p:spPr>
        <p:txBody>
          <a:bodyPr spcFirstLastPara="1" wrap="square" lIns="91425" tIns="91425" rIns="91425" bIns="91425" anchor="t" anchorCtr="0">
            <a:spAutoFit/>
          </a:bodyPr>
          <a:lstStyle/>
          <a:p>
            <a:pPr marL="457200" lvl="0" indent="-298450" algn="l" rtl="0">
              <a:lnSpc>
                <a:spcPct val="115000"/>
              </a:lnSpc>
              <a:spcBef>
                <a:spcPts val="1200"/>
              </a:spcBef>
              <a:spcAft>
                <a:spcPts val="0"/>
              </a:spcAft>
              <a:buClr>
                <a:schemeClr val="dk1"/>
              </a:buClr>
              <a:buSzPts val="1100"/>
              <a:buChar char="●"/>
            </a:pPr>
            <a:r>
              <a:rPr lang="en" sz="1100" b="1">
                <a:solidFill>
                  <a:schemeClr val="dk1"/>
                </a:solidFill>
                <a:latin typeface="Calibri"/>
                <a:ea typeface="Calibri"/>
                <a:cs typeface="Calibri"/>
                <a:sym typeface="Calibri"/>
              </a:rPr>
              <a:t>Emery (2000)</a:t>
            </a:r>
            <a:r>
              <a:rPr lang="en" sz="1100">
                <a:solidFill>
                  <a:schemeClr val="dk1"/>
                </a:solidFill>
                <a:latin typeface="Calibri"/>
                <a:ea typeface="Calibri"/>
                <a:cs typeface="Calibri"/>
                <a:sym typeface="Calibri"/>
              </a:rPr>
              <a:t>; </a:t>
            </a:r>
            <a:r>
              <a:rPr lang="en" sz="1100" b="1">
                <a:solidFill>
                  <a:schemeClr val="dk1"/>
                </a:solidFill>
                <a:latin typeface="Calibri"/>
                <a:ea typeface="Calibri"/>
                <a:cs typeface="Calibri"/>
                <a:sym typeface="Calibri"/>
              </a:rPr>
              <a:t>Shepherd (2010)</a:t>
            </a:r>
            <a:r>
              <a:rPr lang="en" sz="1100">
                <a:solidFill>
                  <a:schemeClr val="dk1"/>
                </a:solidFill>
                <a:latin typeface="Calibri"/>
                <a:ea typeface="Calibri"/>
                <a:cs typeface="Calibri"/>
                <a:sym typeface="Calibri"/>
              </a:rPr>
              <a:t>. Reviews of social gaze across vertebrates and its evolutionary role.</a:t>
            </a:r>
            <a:r>
              <a:rPr lang="en" sz="1100">
                <a:solidFill>
                  <a:schemeClr val="dk1"/>
                </a:solidFill>
                <a:uFill>
                  <a:noFill/>
                </a:uFill>
                <a:latin typeface="Calibri"/>
                <a:ea typeface="Calibri"/>
                <a:cs typeface="Calibri"/>
                <a:sym typeface="Calibri"/>
                <a:hlinkClick r:id="rId3">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3"/>
              </a:rPr>
              <a:t>ece.uvic.ca</a:t>
            </a:r>
            <a:r>
              <a:rPr lang="en" sz="1100" u="sng">
                <a:solidFill>
                  <a:schemeClr val="hlink"/>
                </a:solidFill>
                <a:latin typeface="Calibri"/>
                <a:ea typeface="Calibri"/>
                <a:cs typeface="Calibri"/>
                <a:sym typeface="Calibri"/>
                <a:hlinkClick r:id="rId4"/>
              </a:rPr>
              <a:t>Frontiers</a:t>
            </a:r>
            <a:br>
              <a:rPr lang="en" sz="1100" u="sng">
                <a:solidFill>
                  <a:schemeClr val="hlink"/>
                </a:solidFill>
                <a:latin typeface="Calibri"/>
                <a:ea typeface="Calibri"/>
                <a:cs typeface="Calibri"/>
                <a:sym typeface="Calibri"/>
                <a:hlinkClick r:id="rId4"/>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Bugnyar et al. (2004–2007)</a:t>
            </a:r>
            <a:r>
              <a:rPr lang="en" sz="1100">
                <a:solidFill>
                  <a:schemeClr val="dk1"/>
                </a:solidFill>
                <a:latin typeface="Calibri"/>
                <a:ea typeface="Calibri"/>
                <a:cs typeface="Calibri"/>
                <a:sym typeface="Calibri"/>
              </a:rPr>
              <a:t>; </a:t>
            </a:r>
            <a:r>
              <a:rPr lang="en" sz="1100" b="1">
                <a:solidFill>
                  <a:schemeClr val="dk1"/>
                </a:solidFill>
                <a:latin typeface="Calibri"/>
                <a:ea typeface="Calibri"/>
                <a:cs typeface="Calibri"/>
                <a:sym typeface="Calibri"/>
              </a:rPr>
              <a:t>Bugnyar &amp; Heinrich (2006)</a:t>
            </a:r>
            <a:r>
              <a:rPr lang="en" sz="1100">
                <a:solidFill>
                  <a:schemeClr val="dk1"/>
                </a:solidFill>
                <a:latin typeface="Calibri"/>
                <a:ea typeface="Calibri"/>
                <a:cs typeface="Calibri"/>
                <a:sym typeface="Calibri"/>
              </a:rPr>
              <a:t>. Corvids follow gaze (even around barriers) and manipulate others’ attention around food caches.</a:t>
            </a:r>
            <a:r>
              <a:rPr lang="en" sz="1100">
                <a:solidFill>
                  <a:schemeClr val="dk1"/>
                </a:solidFill>
                <a:uFill>
                  <a:noFill/>
                </a:uFill>
                <a:latin typeface="Calibri"/>
                <a:ea typeface="Calibri"/>
                <a:cs typeface="Calibri"/>
                <a:sym typeface="Calibri"/>
                <a:hlinkClick r:id="rId5">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5"/>
              </a:rPr>
              <a:t>ScienceDirect</a:t>
            </a:r>
            <a:r>
              <a:rPr lang="en" sz="1100" u="sng">
                <a:solidFill>
                  <a:schemeClr val="hlink"/>
                </a:solidFill>
                <a:latin typeface="Calibri"/>
                <a:ea typeface="Calibri"/>
                <a:cs typeface="Calibri"/>
                <a:sym typeface="Calibri"/>
                <a:hlinkClick r:id="rId6"/>
              </a:rPr>
              <a:t>ResearchGate</a:t>
            </a:r>
            <a:br>
              <a:rPr lang="en" sz="1100" u="sng">
                <a:solidFill>
                  <a:schemeClr val="hlink"/>
                </a:solidFill>
                <a:latin typeface="Calibri"/>
                <a:ea typeface="Calibri"/>
                <a:cs typeface="Calibri"/>
                <a:sym typeface="Calibri"/>
                <a:hlinkClick r:id="rId6"/>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Amici et al. (2020)</a:t>
            </a:r>
            <a:r>
              <a:rPr lang="en" sz="1100">
                <a:solidFill>
                  <a:schemeClr val="dk1"/>
                </a:solidFill>
                <a:latin typeface="Calibri"/>
                <a:ea typeface="Calibri"/>
                <a:cs typeface="Calibri"/>
                <a:sym typeface="Calibri"/>
              </a:rPr>
              <a:t>. Gaze following in ungulates—extending beyond primates/birds.</a:t>
            </a:r>
            <a:r>
              <a:rPr lang="en" sz="1100">
                <a:solidFill>
                  <a:schemeClr val="dk1"/>
                </a:solidFill>
                <a:uFill>
                  <a:noFill/>
                </a:uFill>
                <a:latin typeface="Calibri"/>
                <a:ea typeface="Calibri"/>
                <a:cs typeface="Calibri"/>
                <a:sym typeface="Calibri"/>
                <a:hlinkClick r:id="rId7">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7"/>
              </a:rPr>
              <a:t>Frontiers</a:t>
            </a:r>
            <a:br>
              <a:rPr lang="en" sz="1100" u="sng">
                <a:solidFill>
                  <a:schemeClr val="hlink"/>
                </a:solidFill>
                <a:latin typeface="Calibri"/>
                <a:ea typeface="Calibri"/>
                <a:cs typeface="Calibri"/>
                <a:sym typeface="Calibri"/>
                <a:hlinkClick r:id="rId7"/>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Rosati et al.; Kano et al. (2025)</a:t>
            </a:r>
            <a:r>
              <a:rPr lang="en" sz="1100">
                <a:solidFill>
                  <a:schemeClr val="dk1"/>
                </a:solidFill>
                <a:latin typeface="Calibri"/>
                <a:ea typeface="Calibri"/>
                <a:cs typeface="Calibri"/>
                <a:sym typeface="Calibri"/>
              </a:rPr>
              <a:t>. Newer work showing </a:t>
            </a:r>
            <a:r>
              <a:rPr lang="en" sz="1100" b="1">
                <a:solidFill>
                  <a:schemeClr val="dk1"/>
                </a:solidFill>
                <a:latin typeface="Calibri"/>
                <a:ea typeface="Calibri"/>
                <a:cs typeface="Calibri"/>
                <a:sym typeface="Calibri"/>
              </a:rPr>
              <a:t>pigeons</a:t>
            </a:r>
            <a:r>
              <a:rPr lang="en" sz="1100">
                <a:solidFill>
                  <a:schemeClr val="dk1"/>
                </a:solidFill>
                <a:latin typeface="Calibri"/>
                <a:ea typeface="Calibri"/>
                <a:cs typeface="Calibri"/>
                <a:sym typeface="Calibri"/>
              </a:rPr>
              <a:t> follow conspecific gaze; group context matters.</a:t>
            </a:r>
            <a:r>
              <a:rPr lang="en" sz="1100">
                <a:solidFill>
                  <a:schemeClr val="dk1"/>
                </a:solidFill>
                <a:uFill>
                  <a:noFill/>
                </a:uFill>
                <a:latin typeface="Calibri"/>
                <a:ea typeface="Calibri"/>
                <a:cs typeface="Calibri"/>
                <a:sym typeface="Calibri"/>
                <a:hlinkClick r:id="rId8">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8"/>
              </a:rPr>
              <a:t>ScienceDirect</a:t>
            </a:r>
            <a:br>
              <a:rPr lang="en" sz="1100" u="sng">
                <a:solidFill>
                  <a:schemeClr val="hlink"/>
                </a:solidFill>
                <a:latin typeface="Calibri"/>
                <a:ea typeface="Calibri"/>
                <a:cs typeface="Calibri"/>
                <a:sym typeface="Calibri"/>
                <a:hlinkClick r:id="rId8"/>
              </a:rPr>
            </a:br>
            <a:endParaRPr sz="1100" u="sng">
              <a:solidFill>
                <a:schemeClr val="hlink"/>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Gaze sensitivity review (2013)</a:t>
            </a:r>
            <a:r>
              <a:rPr lang="en" sz="1100">
                <a:solidFill>
                  <a:schemeClr val="dk1"/>
                </a:solidFill>
                <a:latin typeface="Calibri"/>
                <a:ea typeface="Calibri"/>
                <a:cs typeface="Calibri"/>
                <a:sym typeface="Calibri"/>
              </a:rPr>
              <a:t>—how animals learn to use gaze for locating food or avoiding predators.</a:t>
            </a:r>
            <a:r>
              <a:rPr lang="en" sz="1100">
                <a:solidFill>
                  <a:schemeClr val="dk1"/>
                </a:solidFill>
                <a:uFill>
                  <a:noFill/>
                </a:uFill>
                <a:latin typeface="Calibri"/>
                <a:ea typeface="Calibri"/>
                <a:cs typeface="Calibri"/>
                <a:sym typeface="Calibri"/>
                <a:hlinkClick r:id="rId9">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9"/>
              </a:rPr>
              <a:t>ScienceDirect</a:t>
            </a:r>
            <a:br>
              <a:rPr lang="en" sz="1100" u="sng">
                <a:solidFill>
                  <a:schemeClr val="hlink"/>
                </a:solidFill>
                <a:latin typeface="Calibri"/>
                <a:ea typeface="Calibri"/>
                <a:cs typeface="Calibri"/>
                <a:sym typeface="Calibri"/>
                <a:hlinkClick r:id="rId9"/>
              </a:rPr>
            </a:br>
            <a:endParaRPr sz="11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34"/>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References: Eye Tracking</a:t>
            </a:r>
            <a:endParaRPr>
              <a:latin typeface="Calibri"/>
              <a:ea typeface="Calibri"/>
              <a:cs typeface="Calibri"/>
              <a:sym typeface="Calibri"/>
            </a:endParaRPr>
          </a:p>
        </p:txBody>
      </p:sp>
      <p:sp>
        <p:nvSpPr>
          <p:cNvPr id="212" name="Google Shape;212;p34"/>
          <p:cNvSpPr txBox="1"/>
          <p:nvPr/>
        </p:nvSpPr>
        <p:spPr>
          <a:xfrm>
            <a:off x="167775" y="1761675"/>
            <a:ext cx="8520600" cy="1327500"/>
          </a:xfrm>
          <a:prstGeom prst="rect">
            <a:avLst/>
          </a:prstGeom>
          <a:noFill/>
          <a:ln>
            <a:noFill/>
          </a:ln>
        </p:spPr>
        <p:txBody>
          <a:bodyPr spcFirstLastPara="1" wrap="square" lIns="91425" tIns="91425" rIns="91425" bIns="91425" anchor="t" anchorCtr="0">
            <a:spAutoFit/>
          </a:bodyPr>
          <a:lstStyle/>
          <a:p>
            <a:pPr marL="457200" lvl="0" indent="-298450" algn="just" rtl="0">
              <a:lnSpc>
                <a:spcPct val="115000"/>
              </a:lnSpc>
              <a:spcBef>
                <a:spcPts val="1200"/>
              </a:spcBef>
              <a:spcAft>
                <a:spcPts val="0"/>
              </a:spcAft>
              <a:buClr>
                <a:schemeClr val="dk1"/>
              </a:buClr>
              <a:buSzPts val="1100"/>
              <a:buChar char="●"/>
            </a:pPr>
            <a:r>
              <a:rPr lang="en" sz="1100" b="1">
                <a:solidFill>
                  <a:schemeClr val="dk1"/>
                </a:solidFill>
                <a:latin typeface="Calibri"/>
                <a:ea typeface="Calibri"/>
                <a:cs typeface="Calibri"/>
                <a:sym typeface="Calibri"/>
              </a:rPr>
              <a:t>Yorzinski &amp; Platt (2014)</a:t>
            </a:r>
            <a:r>
              <a:rPr lang="en" sz="1100">
                <a:solidFill>
                  <a:schemeClr val="dk1"/>
                </a:solidFill>
                <a:latin typeface="Calibri"/>
                <a:ea typeface="Calibri"/>
                <a:cs typeface="Calibri"/>
                <a:sym typeface="Calibri"/>
              </a:rPr>
              <a:t>. Telemetric </a:t>
            </a:r>
            <a:r>
              <a:rPr lang="en" sz="1100" b="1">
                <a:solidFill>
                  <a:schemeClr val="dk1"/>
                </a:solidFill>
                <a:latin typeface="Calibri"/>
                <a:ea typeface="Calibri"/>
                <a:cs typeface="Calibri"/>
                <a:sym typeface="Calibri"/>
              </a:rPr>
              <a:t>eye-tracking</a:t>
            </a:r>
            <a:r>
              <a:rPr lang="en" sz="1100">
                <a:solidFill>
                  <a:schemeClr val="dk1"/>
                </a:solidFill>
                <a:latin typeface="Calibri"/>
                <a:ea typeface="Calibri"/>
                <a:cs typeface="Calibri"/>
                <a:sym typeface="Calibri"/>
              </a:rPr>
              <a:t> in peafowl during predator detection—direct readout of visual attention.</a:t>
            </a:r>
            <a:r>
              <a:rPr lang="en" sz="1100">
                <a:solidFill>
                  <a:schemeClr val="dk1"/>
                </a:solidFill>
                <a:uFill>
                  <a:noFill/>
                </a:uFill>
                <a:latin typeface="Calibri"/>
                <a:ea typeface="Calibri"/>
                <a:cs typeface="Calibri"/>
                <a:sym typeface="Calibri"/>
                <a:hlinkClick r:id="rId3">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3"/>
              </a:rPr>
              <a:t>Yorzinski Lab</a:t>
            </a:r>
            <a:br>
              <a:rPr lang="en" sz="1100" u="sng">
                <a:solidFill>
                  <a:schemeClr val="hlink"/>
                </a:solidFill>
                <a:latin typeface="Calibri"/>
                <a:ea typeface="Calibri"/>
                <a:cs typeface="Calibri"/>
                <a:sym typeface="Calibri"/>
                <a:hlinkClick r:id="rId3"/>
              </a:rPr>
            </a:br>
            <a:endParaRPr sz="1100" u="sng">
              <a:solidFill>
                <a:schemeClr val="hlink"/>
              </a:solidFill>
              <a:latin typeface="Calibri"/>
              <a:ea typeface="Calibri"/>
              <a:cs typeface="Calibri"/>
              <a:sym typeface="Calibri"/>
            </a:endParaRPr>
          </a:p>
          <a:p>
            <a:pPr marL="457200" lvl="0" indent="-298450" algn="just"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Yorzinski et al. (2013/2014/2015)</a:t>
            </a:r>
            <a:r>
              <a:rPr lang="en" sz="1100">
                <a:solidFill>
                  <a:schemeClr val="dk1"/>
                </a:solidFill>
                <a:latin typeface="Calibri"/>
                <a:ea typeface="Calibri"/>
                <a:cs typeface="Calibri"/>
                <a:sym typeface="Calibri"/>
              </a:rPr>
              <a:t>. What females actually look at in courtship; coupling of eye and head movements.</a:t>
            </a:r>
            <a:r>
              <a:rPr lang="en" sz="1100">
                <a:solidFill>
                  <a:schemeClr val="dk1"/>
                </a:solidFill>
                <a:uFill>
                  <a:noFill/>
                </a:uFill>
                <a:latin typeface="Calibri"/>
                <a:ea typeface="Calibri"/>
                <a:cs typeface="Calibri"/>
                <a:sym typeface="Calibri"/>
                <a:hlinkClick r:id="rId4">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4"/>
              </a:rPr>
              <a:t>journals.biologists.com</a:t>
            </a:r>
            <a:r>
              <a:rPr lang="en" sz="1100" u="sng">
                <a:solidFill>
                  <a:schemeClr val="hlink"/>
                </a:solidFill>
                <a:latin typeface="Calibri"/>
                <a:ea typeface="Calibri"/>
                <a:cs typeface="Calibri"/>
                <a:sym typeface="Calibri"/>
                <a:hlinkClick r:id="rId5"/>
              </a:rPr>
              <a:t>patricellilab.faculty.ucdavis.edu</a:t>
            </a:r>
            <a:r>
              <a:rPr lang="en" sz="1100" u="sng">
                <a:solidFill>
                  <a:schemeClr val="hlink"/>
                </a:solidFill>
                <a:latin typeface="Calibri"/>
                <a:ea typeface="Calibri"/>
                <a:cs typeface="Calibri"/>
                <a:sym typeface="Calibri"/>
                <a:hlinkClick r:id="rId6"/>
              </a:rPr>
              <a:t>ResearchGate</a:t>
            </a:r>
            <a:br>
              <a:rPr lang="en" sz="1100" u="sng">
                <a:solidFill>
                  <a:schemeClr val="hlink"/>
                </a:solidFill>
                <a:latin typeface="Calibri"/>
                <a:ea typeface="Calibri"/>
                <a:cs typeface="Calibri"/>
                <a:sym typeface="Calibri"/>
                <a:hlinkClick r:id="rId6"/>
              </a:rPr>
            </a:br>
            <a:endParaRPr sz="1100" u="sng">
              <a:solidFill>
                <a:schemeClr val="hlink"/>
              </a:solidFill>
              <a:latin typeface="Calibri"/>
              <a:ea typeface="Calibri"/>
              <a:cs typeface="Calibri"/>
              <a:sym typeface="Calibri"/>
            </a:endParaRPr>
          </a:p>
          <a:p>
            <a:pPr marL="457200" lvl="0" indent="-298450" algn="just" rtl="0">
              <a:lnSpc>
                <a:spcPct val="115000"/>
              </a:lnSpc>
              <a:spcBef>
                <a:spcPts val="0"/>
              </a:spcBef>
              <a:spcAft>
                <a:spcPts val="0"/>
              </a:spcAft>
              <a:buClr>
                <a:schemeClr val="dk1"/>
              </a:buClr>
              <a:buSzPts val="1100"/>
              <a:buChar char="●"/>
            </a:pPr>
            <a:r>
              <a:rPr lang="en" sz="1100" b="1">
                <a:solidFill>
                  <a:schemeClr val="dk1"/>
                </a:solidFill>
                <a:latin typeface="Calibri"/>
                <a:ea typeface="Calibri"/>
                <a:cs typeface="Calibri"/>
                <a:sym typeface="Calibri"/>
              </a:rPr>
              <a:t>eLife reviewed preprint (2024)</a:t>
            </a:r>
            <a:r>
              <a:rPr lang="en" sz="1100">
                <a:solidFill>
                  <a:schemeClr val="dk1"/>
                </a:solidFill>
                <a:latin typeface="Calibri"/>
                <a:ea typeface="Calibri"/>
                <a:cs typeface="Calibri"/>
                <a:sym typeface="Calibri"/>
              </a:rPr>
              <a:t>. Fine-scale tracking in pigeons links foveal use to faster escape—bridging pose to attention.</a:t>
            </a:r>
            <a:r>
              <a:rPr lang="en" sz="1100">
                <a:solidFill>
                  <a:schemeClr val="dk1"/>
                </a:solidFill>
                <a:uFill>
                  <a:noFill/>
                </a:uFill>
                <a:latin typeface="Calibri"/>
                <a:ea typeface="Calibri"/>
                <a:cs typeface="Calibri"/>
                <a:sym typeface="Calibri"/>
                <a:hlinkClick r:id="rId7">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7"/>
              </a:rPr>
              <a:t>eLife</a:t>
            </a:r>
            <a:endParaRPr sz="11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35"/>
          <p:cNvSpPr txBox="1">
            <a:spLocks noGrp="1"/>
          </p:cNvSpPr>
          <p:nvPr>
            <p:ph type="ctrTitle"/>
          </p:nvPr>
        </p:nvSpPr>
        <p:spPr>
          <a:xfrm>
            <a:off x="311700" y="744575"/>
            <a:ext cx="8520600" cy="74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latin typeface="Calibri"/>
                <a:ea typeface="Calibri"/>
                <a:cs typeface="Calibri"/>
                <a:sym typeface="Calibri"/>
              </a:rPr>
              <a:t>References: OGC GeoPose</a:t>
            </a:r>
            <a:endParaRPr>
              <a:latin typeface="Calibri"/>
              <a:ea typeface="Calibri"/>
              <a:cs typeface="Calibri"/>
              <a:sym typeface="Calibri"/>
            </a:endParaRPr>
          </a:p>
        </p:txBody>
      </p:sp>
      <p:sp>
        <p:nvSpPr>
          <p:cNvPr id="218" name="Google Shape;218;p35"/>
          <p:cNvSpPr txBox="1"/>
          <p:nvPr/>
        </p:nvSpPr>
        <p:spPr>
          <a:xfrm>
            <a:off x="167775" y="1761675"/>
            <a:ext cx="8520600" cy="1522200"/>
          </a:xfrm>
          <a:prstGeom prst="rect">
            <a:avLst/>
          </a:prstGeom>
          <a:noFill/>
          <a:ln>
            <a:noFill/>
          </a:ln>
        </p:spPr>
        <p:txBody>
          <a:bodyPr spcFirstLastPara="1" wrap="square" lIns="91425" tIns="91425" rIns="91425" bIns="91425" anchor="t" anchorCtr="0">
            <a:spAutoFit/>
          </a:bodyPr>
          <a:lstStyle/>
          <a:p>
            <a:pPr marL="457200" lvl="0" indent="-298450" algn="l" rtl="0">
              <a:lnSpc>
                <a:spcPct val="115000"/>
              </a:lnSpc>
              <a:spcBef>
                <a:spcPts val="1200"/>
              </a:spcBef>
              <a:spcAft>
                <a:spcPts val="0"/>
              </a:spcAft>
              <a:buClr>
                <a:schemeClr val="dk1"/>
              </a:buClr>
              <a:buSzPts val="1100"/>
              <a:buChar char="●"/>
            </a:pPr>
            <a:r>
              <a:rPr lang="en" sz="1100">
                <a:solidFill>
                  <a:schemeClr val="dk1"/>
                </a:solidFill>
                <a:latin typeface="Calibri"/>
                <a:ea typeface="Calibri"/>
                <a:cs typeface="Calibri"/>
                <a:sym typeface="Calibri"/>
              </a:rPr>
              <a:t>The OGC GeoPose 1.0 Data Exchange Standard is an </a:t>
            </a:r>
            <a:r>
              <a:rPr lang="en" sz="1100" b="1">
                <a:solidFill>
                  <a:schemeClr val="dk1"/>
                </a:solidFill>
                <a:latin typeface="Calibri"/>
                <a:ea typeface="Calibri"/>
                <a:cs typeface="Calibri"/>
                <a:sym typeface="Calibri"/>
              </a:rPr>
              <a:t>OGC Implementation Standard</a:t>
            </a:r>
            <a:r>
              <a:rPr lang="en" sz="1100">
                <a:solidFill>
                  <a:schemeClr val="dk1"/>
                </a:solidFill>
                <a:latin typeface="Calibri"/>
                <a:ea typeface="Calibri"/>
                <a:cs typeface="Calibri"/>
                <a:sym typeface="Calibri"/>
              </a:rPr>
              <a:t>, approved on </a:t>
            </a:r>
            <a:r>
              <a:rPr lang="en" sz="1100" b="1">
                <a:solidFill>
                  <a:schemeClr val="dk1"/>
                </a:solidFill>
                <a:latin typeface="Calibri"/>
                <a:ea typeface="Calibri"/>
                <a:cs typeface="Calibri"/>
                <a:sym typeface="Calibri"/>
              </a:rPr>
              <a:t>June 20, 2022</a:t>
            </a:r>
            <a:r>
              <a:rPr lang="en" sz="1100">
                <a:solidFill>
                  <a:schemeClr val="dk1"/>
                </a:solidFill>
                <a:latin typeface="Calibri"/>
                <a:ea typeface="Calibri"/>
                <a:cs typeface="Calibri"/>
                <a:sym typeface="Calibri"/>
              </a:rPr>
              <a:t>, and </a:t>
            </a:r>
            <a:r>
              <a:rPr lang="en" sz="1100" b="1">
                <a:solidFill>
                  <a:schemeClr val="dk1"/>
                </a:solidFill>
                <a:latin typeface="Calibri"/>
                <a:ea typeface="Calibri"/>
                <a:cs typeface="Calibri"/>
                <a:sym typeface="Calibri"/>
              </a:rPr>
              <a:t>published on September 8, 2023</a:t>
            </a:r>
            <a:r>
              <a:rPr lang="en" sz="1100">
                <a:solidFill>
                  <a:schemeClr val="dk1"/>
                </a:solidFill>
                <a:uFill>
                  <a:noFill/>
                </a:uFill>
                <a:latin typeface="Calibri"/>
                <a:ea typeface="Calibri"/>
                <a:cs typeface="Calibri"/>
                <a:sym typeface="Calibri"/>
                <a:hlinkClick r:id="rId3">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3"/>
              </a:rPr>
              <a:t>geopose.org+14docs.ogc.org+14medium.com+14</a:t>
            </a:r>
            <a:r>
              <a:rPr lang="en" sz="1100">
                <a:solidFill>
                  <a:schemeClr val="dk1"/>
                </a:solidFill>
                <a:latin typeface="Calibri"/>
                <a:ea typeface="Calibri"/>
                <a:cs typeface="Calibri"/>
                <a:sym typeface="Calibri"/>
              </a:rPr>
              <a:t>.</a:t>
            </a:r>
            <a:br>
              <a:rPr lang="en" sz="1100">
                <a:solidFill>
                  <a:schemeClr val="dk1"/>
                </a:solidFill>
                <a:latin typeface="Calibri"/>
                <a:ea typeface="Calibri"/>
                <a:cs typeface="Calibri"/>
                <a:sym typeface="Calibri"/>
              </a:rPr>
            </a:br>
            <a:endParaRPr sz="1100">
              <a:solidFill>
                <a:schemeClr val="dk1"/>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a:solidFill>
                  <a:schemeClr val="dk1"/>
                </a:solidFill>
                <a:latin typeface="Calibri"/>
                <a:ea typeface="Calibri"/>
                <a:cs typeface="Calibri"/>
                <a:sym typeface="Calibri"/>
              </a:rPr>
              <a:t>It is designated as </a:t>
            </a:r>
            <a:r>
              <a:rPr lang="en" sz="1100" b="1">
                <a:solidFill>
                  <a:schemeClr val="dk1"/>
                </a:solidFill>
                <a:latin typeface="Calibri"/>
                <a:ea typeface="Calibri"/>
                <a:cs typeface="Calibri"/>
                <a:sym typeface="Calibri"/>
              </a:rPr>
              <a:t>OGC Doc No. 21-056r11</a:t>
            </a:r>
            <a:r>
              <a:rPr lang="en" sz="1100">
                <a:solidFill>
                  <a:schemeClr val="dk1"/>
                </a:solidFill>
                <a:uFill>
                  <a:noFill/>
                </a:uFill>
                <a:latin typeface="Calibri"/>
                <a:ea typeface="Calibri"/>
                <a:cs typeface="Calibri"/>
                <a:sym typeface="Calibri"/>
                <a:hlinkClick r:id="rId3">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3"/>
              </a:rPr>
              <a:t>docs.ogc.org+2ogc.org+2</a:t>
            </a:r>
            <a:r>
              <a:rPr lang="en" sz="1100">
                <a:solidFill>
                  <a:schemeClr val="dk1"/>
                </a:solidFill>
                <a:latin typeface="Calibri"/>
                <a:ea typeface="Calibri"/>
                <a:cs typeface="Calibri"/>
                <a:sym typeface="Calibri"/>
              </a:rPr>
              <a:t>.</a:t>
            </a:r>
            <a:br>
              <a:rPr lang="en" sz="1100">
                <a:solidFill>
                  <a:schemeClr val="dk1"/>
                </a:solidFill>
                <a:latin typeface="Calibri"/>
                <a:ea typeface="Calibri"/>
                <a:cs typeface="Calibri"/>
                <a:sym typeface="Calibri"/>
              </a:rPr>
            </a:br>
            <a:endParaRPr sz="1100">
              <a:solidFill>
                <a:schemeClr val="dk1"/>
              </a:solidFill>
              <a:latin typeface="Calibri"/>
              <a:ea typeface="Calibri"/>
              <a:cs typeface="Calibri"/>
              <a:sym typeface="Calibri"/>
            </a:endParaRPr>
          </a:p>
          <a:p>
            <a:pPr marL="457200" lvl="0" indent="-298450" algn="l" rtl="0">
              <a:lnSpc>
                <a:spcPct val="115000"/>
              </a:lnSpc>
              <a:spcBef>
                <a:spcPts val="0"/>
              </a:spcBef>
              <a:spcAft>
                <a:spcPts val="0"/>
              </a:spcAft>
              <a:buClr>
                <a:schemeClr val="dk1"/>
              </a:buClr>
              <a:buSzPts val="1100"/>
              <a:buChar char="●"/>
            </a:pPr>
            <a:r>
              <a:rPr lang="en" sz="1100">
                <a:solidFill>
                  <a:schemeClr val="dk1"/>
                </a:solidFill>
                <a:latin typeface="Calibri"/>
                <a:ea typeface="Calibri"/>
                <a:cs typeface="Calibri"/>
                <a:sym typeface="Calibri"/>
              </a:rPr>
              <a:t>The standard defines an interoperable way to express and exchange the </a:t>
            </a:r>
            <a:r>
              <a:rPr lang="en" sz="1100" b="1">
                <a:solidFill>
                  <a:schemeClr val="dk1"/>
                </a:solidFill>
                <a:latin typeface="Calibri"/>
                <a:ea typeface="Calibri"/>
                <a:cs typeface="Calibri"/>
                <a:sym typeface="Calibri"/>
              </a:rPr>
              <a:t>location and orientation (poses)</a:t>
            </a:r>
            <a:r>
              <a:rPr lang="en" sz="1100">
                <a:solidFill>
                  <a:schemeClr val="dk1"/>
                </a:solidFill>
                <a:latin typeface="Calibri"/>
                <a:ea typeface="Calibri"/>
                <a:cs typeface="Calibri"/>
                <a:sym typeface="Calibri"/>
              </a:rPr>
              <a:t> of real or virtual geometric objects in geographic reference frames (Earth or astronomical coordinate systems)</a:t>
            </a:r>
            <a:r>
              <a:rPr lang="en" sz="1100">
                <a:solidFill>
                  <a:schemeClr val="dk1"/>
                </a:solidFill>
                <a:uFill>
                  <a:noFill/>
                </a:uFill>
                <a:latin typeface="Calibri"/>
                <a:ea typeface="Calibri"/>
                <a:cs typeface="Calibri"/>
                <a:sym typeface="Calibri"/>
                <a:hlinkClick r:id="rId4">
                  <a:extLst>
                    <a:ext uri="{A12FA001-AC4F-418D-AE19-62706E023703}">
                      <ahyp:hlinkClr xmlns:ahyp="http://schemas.microsoft.com/office/drawing/2018/hyperlinkcolor" val="tx"/>
                    </a:ext>
                  </a:extLst>
                </a:hlinkClick>
              </a:rPr>
              <a:t> </a:t>
            </a:r>
            <a:r>
              <a:rPr lang="en" sz="1100" u="sng">
                <a:solidFill>
                  <a:schemeClr val="hlink"/>
                </a:solidFill>
                <a:latin typeface="Calibri"/>
                <a:ea typeface="Calibri"/>
                <a:cs typeface="Calibri"/>
                <a:sym typeface="Calibri"/>
                <a:hlinkClick r:id="rId4"/>
              </a:rPr>
              <a:t>github.com+13ogc.org+13ogc.org+13</a:t>
            </a:r>
            <a:r>
              <a:rPr lang="en" sz="1100">
                <a:solidFill>
                  <a:schemeClr val="dk1"/>
                </a:solidFill>
                <a:latin typeface="Calibri"/>
                <a:ea typeface="Calibri"/>
                <a:cs typeface="Calibri"/>
                <a:sym typeface="Calibri"/>
              </a:rPr>
              <a:t>.</a:t>
            </a:r>
            <a:endParaRPr sz="1100" b="1">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2292</Words>
  <Application>Microsoft Office PowerPoint</Application>
  <PresentationFormat>On-screen Show (16:9)</PresentationFormat>
  <Paragraphs>162</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Simple Light</vt:lpstr>
      <vt:lpstr>Attention, the Origin of Pose</vt:lpstr>
      <vt:lpstr>TLDR</vt:lpstr>
      <vt:lpstr>Survival</vt:lpstr>
      <vt:lpstr>Visual Perception</vt:lpstr>
      <vt:lpstr>Visual Perception</vt:lpstr>
      <vt:lpstr>Perception Is Selective</vt:lpstr>
      <vt:lpstr>Attention</vt:lpstr>
      <vt:lpstr>Attention and Pose</vt:lpstr>
      <vt:lpstr>Translation-Orientation Model</vt:lpstr>
      <vt:lpstr>Adding Depth</vt:lpstr>
      <vt:lpstr>Three Types of Pose</vt:lpstr>
      <vt:lpstr>Observer Poses</vt:lpstr>
      <vt:lpstr>Subject Poses</vt:lpstr>
      <vt:lpstr>(Detected) Object Poses</vt:lpstr>
      <vt:lpstr>(Induced) Object Poses</vt:lpstr>
      <vt:lpstr>Four Abstract Use Cases</vt:lpstr>
      <vt:lpstr>Why Are the Use Cases Important?</vt:lpstr>
      <vt:lpstr>Pointing</vt:lpstr>
      <vt:lpstr>Posing</vt:lpstr>
      <vt:lpstr>Touching</vt:lpstr>
      <vt:lpstr>Connecting</vt:lpstr>
      <vt:lpstr>Representing a Pose</vt:lpstr>
      <vt:lpstr>Using Poses</vt:lpstr>
      <vt:lpstr>References: Overview</vt:lpstr>
      <vt:lpstr>References: Vigilance in Groups</vt:lpstr>
      <vt:lpstr>References: Pose and Vision</vt:lpstr>
      <vt:lpstr>References: Gaze Following</vt:lpstr>
      <vt:lpstr>References: Eye Tracking</vt:lpstr>
      <vt:lpstr>References: OGC GeoPose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Steve Smyth</cp:lastModifiedBy>
  <cp:revision>2</cp:revision>
  <dcterms:modified xsi:type="dcterms:W3CDTF">2025-11-21T14:46:45Z</dcterms:modified>
</cp:coreProperties>
</file>