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73" r:id="rId19"/>
    <p:sldId id="294" r:id="rId20"/>
    <p:sldId id="293" r:id="rId2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29">
          <p15:clr>
            <a:srgbClr val="747775"/>
          </p15:clr>
        </p15:guide>
        <p15:guide id="2" pos="292">
          <p15:clr>
            <a:srgbClr val="747775"/>
          </p15:clr>
        </p15:guide>
        <p15:guide id="3" orient="horz" pos="2880">
          <p15:clr>
            <a:srgbClr val="747775"/>
          </p15:clr>
        </p15:guide>
        <p15:guide id="4" pos="547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3096"/>
      </p:cViewPr>
      <p:guideLst>
        <p:guide orient="horz" pos="1029"/>
        <p:guide pos="292"/>
        <p:guide orient="horz" pos="2880"/>
        <p:guide pos="54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7711456c3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7711456c3a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91C7E19-5251-F5EC-C6DA-E8B13FA5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E7D6C1F-819A-FEB8-5A5A-FB84B7440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81FA88DB-6569-806D-384A-7E6E5F7CB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9703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768CE78-7EB8-F229-70EF-1E1888C18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1ECEA88-FC79-DA51-B6A9-FD700E2749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7CF7428D-CBF1-307E-7496-DE550844D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8524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55F0672-DFD3-A016-23D1-70FA76B8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61E7EEEA-E3A7-7042-C994-40B4AB4D1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802D64F-9D3F-5657-6DEB-5DEAB6B422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6875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AF8D5A6-5F29-FC27-4009-4101C51AD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23C0C2B5-840F-7BCE-3948-DB479FAB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2AF71EB-D651-92D9-BC83-BEFBE7DC46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388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05D0B06-E5BA-F335-932D-1473A9885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6980E3E-718C-DE0B-E620-04A475D0B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FE8CF83B-D9DC-CEB5-BD3B-AD0088FD8F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21098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840ED41-044F-6EE6-399D-7C8AF37D6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9C1A1729-1454-4017-525D-606B70CE5C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034EBF85-E636-C675-74DC-F46AC10A0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1348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BDCE1739-9653-8250-2A24-397D3ADB7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8011BE-4349-D7B0-9AF4-3851A9F72C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69AEE0D-2C40-6DD3-AC46-2DBEAE650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3355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86526504-6C0B-1A6B-0CC1-E1E8E67B9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A9F0FED-A81B-2C8D-CF99-60D9E3BC6F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30EE6B07-0D40-5996-576E-8D64482C44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37282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E95098B-B9D5-B14D-C94C-465A40D0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F4967BC0-118C-F3C4-DBDD-CC45EF516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A93FC131-2416-1E5B-F596-8F1A88421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1067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BF4B1F7-A620-1242-EC45-6FA2FA85E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30405940-5405-4A21-9C84-7BED093AD0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B81C502-6BED-75C8-4130-43E507FE38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03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9B25BC46-13D0-A8ED-FBE8-3095EFB04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5DED8D5D-C0FB-546F-6770-405982816A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E33221A-33EB-12D5-A568-9A8299490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29744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DD4F1AE-F5DF-4DC3-AD7E-0599F81A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AF2AB6-C181-1661-B16F-E7275FFFD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595FB98-56ED-9BA1-9306-4966AA6C5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41989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95AD6C4-2033-3EA7-A25A-8F004F28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09BF039-3F68-C729-6F76-EC6C830B8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93441911-7EB3-2B61-DB0A-31B940B77F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19646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335A3E43-DD13-9D35-4957-4EEF593C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8215B9B2-0B36-00CF-8CAC-1C89D2308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3F92366-6132-A676-AE0B-B382A7D85C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0587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78ebe71614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78ebe71614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>
          <a:extLst>
            <a:ext uri="{FF2B5EF4-FFF2-40B4-BE49-F238E27FC236}">
              <a16:creationId xmlns:a16="http://schemas.microsoft.com/office/drawing/2014/main" id="{CD19ADDE-AFB7-D542-4CCB-CF45448EB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78ebe71614_0_7:notes">
            <a:extLst>
              <a:ext uri="{FF2B5EF4-FFF2-40B4-BE49-F238E27FC236}">
                <a16:creationId xmlns:a16="http://schemas.microsoft.com/office/drawing/2014/main" id="{18BFF4BB-B269-5983-51A0-7483663262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78ebe71614_0_7:notes">
            <a:extLst>
              <a:ext uri="{FF2B5EF4-FFF2-40B4-BE49-F238E27FC236}">
                <a16:creationId xmlns:a16="http://schemas.microsoft.com/office/drawing/2014/main" id="{E6FBEBA8-6C4A-DCCA-CC46-DEF674CC1C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8717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>
          <a:extLst>
            <a:ext uri="{FF2B5EF4-FFF2-40B4-BE49-F238E27FC236}">
              <a16:creationId xmlns:a16="http://schemas.microsoft.com/office/drawing/2014/main" id="{72FC9FB4-A7E7-64B7-BA86-D3A29AE7B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78ebe71614_0_7:notes">
            <a:extLst>
              <a:ext uri="{FF2B5EF4-FFF2-40B4-BE49-F238E27FC236}">
                <a16:creationId xmlns:a16="http://schemas.microsoft.com/office/drawing/2014/main" id="{FCD3499C-B991-1806-B70C-52421DB2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78ebe71614_0_7:notes">
            <a:extLst>
              <a:ext uri="{FF2B5EF4-FFF2-40B4-BE49-F238E27FC236}">
                <a16:creationId xmlns:a16="http://schemas.microsoft.com/office/drawing/2014/main" id="{CC90C4BD-AD93-F323-86BC-8B4C9273A1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77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 title="logo_osp_2021_h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72450" y="4731913"/>
            <a:ext cx="256225" cy="25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 txBox="1"/>
          <p:nvPr/>
        </p:nvSpPr>
        <p:spPr>
          <a:xfrm>
            <a:off x="3911800" y="4703625"/>
            <a:ext cx="4987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2"/>
                </a:solidFill>
              </a:rPr>
              <a:t>8.04 2025.09.13.01     Copyright © 2025 MobileGIS Ltd - Licence </a:t>
            </a:r>
            <a:r>
              <a:rPr lang="en" sz="1000" u="sng" dirty="0">
                <a:solidFill>
                  <a:schemeClr val="hlink"/>
                </a:solidFill>
                <a:hlinkClick r:id="rId14"/>
              </a:rPr>
              <a:t>CC-BY 4.0</a:t>
            </a:r>
            <a:r>
              <a:rPr lang="en" sz="1000" dirty="0">
                <a:solidFill>
                  <a:schemeClr val="dk2"/>
                </a:solidFill>
              </a:rPr>
              <a:t> </a:t>
            </a:r>
            <a:endParaRPr sz="1000" dirty="0">
              <a:solidFill>
                <a:schemeClr val="dk2"/>
              </a:solidFill>
            </a:endParaRPr>
          </a:p>
        </p:txBody>
      </p:sp>
      <p:sp>
        <p:nvSpPr>
          <p:cNvPr id="11" name="Google Shape;11;p1"/>
          <p:cNvSpPr txBox="1"/>
          <p:nvPr/>
        </p:nvSpPr>
        <p:spPr>
          <a:xfrm>
            <a:off x="469600" y="4515525"/>
            <a:ext cx="3442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FF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411.02373?utm_source=chatgpt.com" TargetMode="External"/><Relationship Id="rId3" Type="http://schemas.openxmlformats.org/officeDocument/2006/relationships/hyperlink" Target="https://arxiv.org/abs/2407.03057?utm_source=chatgpt.com" TargetMode="External"/><Relationship Id="rId7" Type="http://schemas.openxmlformats.org/officeDocument/2006/relationships/hyperlink" Target="https://arxiv.org/abs/2202.11178?utm_source=chatgpt.com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xiv.org/abs/1306.2461?utm_source=chatgpt.com" TargetMode="External"/><Relationship Id="rId11" Type="http://schemas.openxmlformats.org/officeDocument/2006/relationships/hyperlink" Target="https://iwaponline.com/wst/article/89/4/1028/100342/Adaptive-river-flow-measurement-method-based-on?utm_source=chatgpt.com" TargetMode="External"/><Relationship Id="rId5" Type="http://schemas.openxmlformats.org/officeDocument/2006/relationships/hyperlink" Target="https://arxiv.org/abs/2101.11950?utm_source=chatgpt.com" TargetMode="External"/><Relationship Id="rId10" Type="http://schemas.openxmlformats.org/officeDocument/2006/relationships/hyperlink" Target="https://www.sciencedirect.com/science/article/pii/S1077314224002418?utm_source=chatgpt.com" TargetMode="External"/><Relationship Id="rId4" Type="http://schemas.openxmlformats.org/officeDocument/2006/relationships/hyperlink" Target="https://pubs.rsc.org/en/content/articlehtml/2024/sm/d4sm00483c?utm_source=chatgpt.com" TargetMode="External"/><Relationship Id="rId9" Type="http://schemas.openxmlformats.org/officeDocument/2006/relationships/hyperlink" Target="https://www.sciencedirect.com/science/article/pii/S0143816619318287?utm_source=chatgpt.com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463500" y="744575"/>
            <a:ext cx="8223300" cy="92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800" dirty="0">
                <a:latin typeface="Calibri"/>
                <a:ea typeface="Calibri"/>
                <a:cs typeface="Calibri"/>
                <a:sym typeface="Calibri"/>
              </a:rPr>
              <a:t>Pose </a:t>
            </a:r>
            <a:r>
              <a:rPr lang="en-US" sz="4800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endParaRPr sz="86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1"/>
          </p:nvPr>
        </p:nvSpPr>
        <p:spPr>
          <a:xfrm>
            <a:off x="463500" y="2834125"/>
            <a:ext cx="822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2060" dirty="0">
                <a:latin typeface="Calibri"/>
                <a:ea typeface="Calibri"/>
                <a:cs typeface="Calibri"/>
                <a:sym typeface="Calibri"/>
              </a:rPr>
              <a:t>Finding objects and their poses.</a:t>
            </a:r>
            <a:endParaRPr sz="206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0" y="0"/>
            <a:ext cx="3000000" cy="8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TLDR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DB2681-5098-1E33-7EC2-1F09C46E4D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US" dirty="0"/>
              <a:t>There are three types of Pose</a:t>
            </a:r>
          </a:p>
          <a:p>
            <a:r>
              <a:rPr lang="en-US" dirty="0"/>
              <a:t>Observer</a:t>
            </a:r>
          </a:p>
          <a:p>
            <a:r>
              <a:rPr lang="en-US" dirty="0"/>
              <a:t>Subject</a:t>
            </a:r>
          </a:p>
          <a:p>
            <a:r>
              <a:rPr lang="en-US" dirty="0"/>
              <a:t>Object – Natural</a:t>
            </a:r>
          </a:p>
          <a:p>
            <a:r>
              <a:rPr lang="en-US"/>
              <a:t>Object - Induced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CEA89F42-78BB-21F9-5FBA-15A19168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5E6D264-064E-6406-F5ED-F2678251D3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224584-B7B2-9975-0445-976AB4A91D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35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38534D71-F4EC-0809-F20E-726AC0B2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50F892A-8093-0AEE-68D9-AE7F2E397C7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53426E-95F7-5C82-01C7-6393558F86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74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4889662-CD83-CBEF-E1ED-0DCCCB683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4E835E0-CA95-F9D1-016F-2FC64E7179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F4114B-4728-A46E-FC0B-DF63C82986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212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8E3DA5-B668-FC2B-F492-EB8EC4C9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17CF393A-F088-032F-E78B-1627663A04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BD6E5-A984-B94D-6215-2F81D39D14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80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975AACE5-DD47-649C-B4C4-77D87DB84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1DB69DF-4227-13C5-E397-0C1C2688016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276DF3-A423-C041-1F51-87C11F512C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962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40C9DFB-041B-1A6A-25B4-D8E52B5A3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C5241A9-E736-9972-289D-6721844EE79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A28EA-3FF8-967F-F08A-E954C69E5F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246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2676C8-E12F-8DF3-6378-71327291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B287DD68-9CC4-E70C-A014-10715CB5053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670715-AAEF-2B1A-EF53-08917C2F2B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229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B26C5146-CFB9-F29E-B3F3-9AAB9C727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E4DB471-478F-113B-AE80-BD21982B282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0A0929-4F53-7DCA-A2B8-532B9A07E3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3730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2DD77329-34E0-1001-0E30-35B7325E7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75F6026-90EE-BBBE-30A5-A456607C542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32FA2C-F234-24F6-C000-1F3A5BDD81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832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ACA69A0-F379-9F5A-5ED7-6ECD1F61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55B82C80-5D7A-20C2-498B-6EDD85E353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C2D9E3-48F7-2BE8-73DD-0844B8C1F9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40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DFC5E54-3225-1645-1847-C46AC9F35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B1CE385-DA02-535A-F574-24D8ACFEF6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DA6AD7-EBE3-E308-F613-D02500A0D2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708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AF7BE0CA-F09D-907A-86C7-A6054EE1C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866AD0A2-1342-41DF-492D-C6DC86BB6DB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A9F3E-E4CB-DE29-AA0A-CF71A5726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7054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E3039C5-FA39-179E-4BC0-0E4731580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01F0F7D-F2AA-3AAB-839D-53B9F74871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AE4744-81CC-F9A9-CA41-587C94DB28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372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1544E4C-9D05-B658-408D-56257B69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D3A99B6-E6B6-9294-F44A-5B4915EEEC2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Detection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8C6AD6-FA09-8CF5-E2FE-EDA34DDD93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1208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References 1-6: Detection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9B262C-4311-0BFF-302C-70ED2CEFA3A7}"/>
              </a:ext>
            </a:extLst>
          </p:cNvPr>
          <p:cNvSpPr txBox="1"/>
          <p:nvPr/>
        </p:nvSpPr>
        <p:spPr>
          <a:xfrm>
            <a:off x="405684" y="-13887710"/>
            <a:ext cx="6336406" cy="248683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Key References on Visual Velocimetry</a:t>
            </a:r>
          </a:p>
          <a:p>
            <a:pPr>
              <a:buFont typeface="+mj-lt"/>
              <a:buAutoNum type="arabicPeriod"/>
            </a:pPr>
            <a:r>
              <a:rPr lang="en-US" dirty="0"/>
              <a:t>Pimienta, Juan, &amp; Aider, Jean-Luc. (2024). </a:t>
            </a:r>
            <a:r>
              <a:rPr lang="en-US" i="1" dirty="0"/>
              <a:t>Towards High Resolution Real-Time Optical Flow Particle Image Velocimetry</a:t>
            </a:r>
            <a:r>
              <a:rPr lang="en-US" dirty="0"/>
              <a:t>. arXiv:2407.03057. </a:t>
            </a:r>
            <a:r>
              <a:rPr lang="en-US" dirty="0" err="1">
                <a:hlinkClick r:id="rId3"/>
              </a:rPr>
              <a:t>arXiv</a:t>
            </a:r>
            <a:br>
              <a:rPr lang="en-US" dirty="0"/>
            </a:br>
            <a:r>
              <a:rPr lang="en-US" dirty="0"/>
              <a:t>— Demonstrates dense (one vector per pixel) velocity field estimation in real time using optical flow in place of classical PIV. </a:t>
            </a:r>
            <a:r>
              <a:rPr lang="en-US" dirty="0" err="1">
                <a:hlinkClick r:id="rId3"/>
              </a:rPr>
              <a:t>arXiv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dirty="0"/>
              <a:t>Tran, Phu N., Ray, Sattvic, Lemma, Linnea, Li, </a:t>
            </a:r>
            <a:r>
              <a:rPr lang="en-US" dirty="0" err="1"/>
              <a:t>Yunrui</a:t>
            </a:r>
            <a:r>
              <a:rPr lang="en-US" dirty="0"/>
              <a:t>, Sweeney, Reef, Baskaran, Aparna, Dogic, Zvonimir, &amp; Hagan, Michael F. (2024). </a:t>
            </a:r>
            <a:r>
              <a:rPr lang="en-US" i="1" dirty="0"/>
              <a:t>Deep learning optical flow for measuring velocity fields from experimental data</a:t>
            </a:r>
            <a:r>
              <a:rPr lang="en-US" dirty="0"/>
              <a:t>. Soft Matter, 20, 7246-7257. </a:t>
            </a:r>
            <a:r>
              <a:rPr lang="en-US" dirty="0">
                <a:hlinkClick r:id="rId4"/>
              </a:rPr>
              <a:t>pubs.rsc.org</a:t>
            </a:r>
            <a:br>
              <a:rPr lang="en-US" dirty="0"/>
            </a:br>
            <a:r>
              <a:rPr lang="en-US" dirty="0"/>
              <a:t>— Compares deep-learning optical flow (DLOF) with PIV in biophysical systems and shows advantages of DLOF for dense labeling and higher resolution. </a:t>
            </a:r>
            <a:r>
              <a:rPr lang="en-US" dirty="0">
                <a:hlinkClick r:id="rId4"/>
              </a:rPr>
              <a:t>pubs.rsc.org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dirty="0" err="1"/>
              <a:t>Stulov</a:t>
            </a:r>
            <a:r>
              <a:rPr lang="en-US" dirty="0"/>
              <a:t>, Nikolay, &amp; </a:t>
            </a:r>
            <a:r>
              <a:rPr lang="en-US" dirty="0" err="1"/>
              <a:t>Chertkov</a:t>
            </a:r>
            <a:r>
              <a:rPr lang="en-US" dirty="0"/>
              <a:t>, Michael. (2021). </a:t>
            </a:r>
            <a:r>
              <a:rPr lang="en-US" i="1" dirty="0"/>
              <a:t>Neural Particle Image Velocimetry</a:t>
            </a:r>
            <a:r>
              <a:rPr lang="en-US" dirty="0"/>
              <a:t>. arXiv:2101.11950. </a:t>
            </a:r>
            <a:r>
              <a:rPr lang="en-US" dirty="0" err="1">
                <a:hlinkClick r:id="rId5"/>
              </a:rPr>
              <a:t>arXiv</a:t>
            </a:r>
            <a:br>
              <a:rPr lang="en-US" dirty="0"/>
            </a:br>
            <a:r>
              <a:rPr lang="en-US" dirty="0"/>
              <a:t>— Proposes a convolutional neural network approach (Volumetric Correspondence Network) for estimating fine‐grained velocity fields from PIV imagery, designed to be faster and accurate. </a:t>
            </a:r>
            <a:r>
              <a:rPr lang="en-US" dirty="0" err="1">
                <a:hlinkClick r:id="rId5"/>
              </a:rPr>
              <a:t>arXiv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dirty="0"/>
              <a:t>Gautier, N., &amp; Aider, J-L. (2013). </a:t>
            </a:r>
            <a:r>
              <a:rPr lang="en-US" i="1" dirty="0"/>
              <a:t>Real-time planar flow velocity measurements using an optical flow algorithm implemented on GPU</a:t>
            </a:r>
            <a:r>
              <a:rPr lang="en-US" dirty="0"/>
              <a:t>. arXiv:1306.2461. </a:t>
            </a:r>
            <a:r>
              <a:rPr lang="en-US" dirty="0" err="1">
                <a:hlinkClick r:id="rId6"/>
              </a:rPr>
              <a:t>arXiv</a:t>
            </a:r>
            <a:br>
              <a:rPr lang="en-US" dirty="0"/>
            </a:br>
            <a:r>
              <a:rPr lang="en-US" dirty="0"/>
              <a:t>— Real-time optical flow on GPU for experimental flows; compares against offline PIV, showing good accuracy in recovering flow features such as recirculation bubbles. </a:t>
            </a:r>
            <a:r>
              <a:rPr lang="en-US" dirty="0" err="1">
                <a:hlinkClick r:id="rId6"/>
              </a:rPr>
              <a:t>arXiv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dirty="0"/>
              <a:t>Willert, Christian, &amp; Klinner, Joachim. (2022). </a:t>
            </a:r>
            <a:r>
              <a:rPr lang="en-US" i="1" dirty="0"/>
              <a:t>Event-based Imaging Velocimetry — An Assessment of Event-based Cameras for the Measurement of Fluid Flows</a:t>
            </a:r>
            <a:r>
              <a:rPr lang="en-US" dirty="0"/>
              <a:t>. arXiv:2202.11178. </a:t>
            </a:r>
            <a:r>
              <a:rPr lang="en-US" dirty="0" err="1">
                <a:hlinkClick r:id="rId7"/>
              </a:rPr>
              <a:t>arXiv</a:t>
            </a:r>
            <a:br>
              <a:rPr lang="en-US" dirty="0"/>
            </a:br>
            <a:r>
              <a:rPr lang="en-US" dirty="0"/>
              <a:t>— Looks at using event-based cameras (which detect changes rather than full frames) for velocimetry; proposes algorithms to derive velocity from the event streams. </a:t>
            </a:r>
            <a:r>
              <a:rPr lang="en-US" dirty="0" err="1">
                <a:hlinkClick r:id="rId7"/>
              </a:rPr>
              <a:t>arXiv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dirty="0"/>
              <a:t>Masker, Andrew I., Ke Zhou, Joseph P. Molnar, &amp; Samuel J. Grauer. (2024). </a:t>
            </a:r>
            <a:r>
              <a:rPr lang="en-US" i="1" dirty="0"/>
              <a:t>Neural optical flow for planar and stereo PIV</a:t>
            </a:r>
            <a:r>
              <a:rPr lang="en-US" dirty="0"/>
              <a:t>. arXiv:2411.02373. </a:t>
            </a:r>
            <a:r>
              <a:rPr lang="en-US" dirty="0" err="1">
                <a:hlinkClick r:id="rId8"/>
              </a:rPr>
              <a:t>arXiv</a:t>
            </a:r>
            <a:br>
              <a:rPr lang="en-US" dirty="0"/>
            </a:br>
            <a:r>
              <a:rPr lang="en-US" dirty="0"/>
              <a:t>— Introduces a neural‐implicit representation of the velocity field, with continuous parameterization, and constraints (like continuity or physics priors) to improve flow and possibly pressure inference. </a:t>
            </a:r>
            <a:r>
              <a:rPr lang="en-US" dirty="0" err="1">
                <a:hlinkClick r:id="rId8"/>
              </a:rPr>
              <a:t>arXiv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i="1" dirty="0"/>
              <a:t>Particle image velocimetry - Classical operating rules from today’s PIV</a:t>
            </a:r>
            <a:r>
              <a:rPr lang="en-US" dirty="0"/>
              <a:t>. (2019). </a:t>
            </a:r>
            <a:r>
              <a:rPr lang="en-US" dirty="0">
                <a:hlinkClick r:id="rId9"/>
              </a:rPr>
              <a:t>ScienceDirect</a:t>
            </a:r>
            <a:br>
              <a:rPr lang="en-US" dirty="0"/>
            </a:br>
            <a:r>
              <a:rPr lang="en-US" dirty="0"/>
              <a:t>— A broad review of PIV techniques, historical and recent developments. Useful for baseline and context. </a:t>
            </a:r>
            <a:r>
              <a:rPr lang="en-US" dirty="0">
                <a:hlinkClick r:id="rId9"/>
              </a:rPr>
              <a:t>ScienceDirect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i="1" dirty="0"/>
              <a:t>Estimating optical flow: A comprehensive review of the state of the art</a:t>
            </a:r>
            <a:r>
              <a:rPr lang="en-US" dirty="0"/>
              <a:t>. (2024). </a:t>
            </a:r>
            <a:r>
              <a:rPr lang="en-US" dirty="0">
                <a:hlinkClick r:id="rId10"/>
              </a:rPr>
              <a:t>ScienceDirect</a:t>
            </a:r>
            <a:br>
              <a:rPr lang="en-US" dirty="0"/>
            </a:br>
            <a:r>
              <a:rPr lang="en-US" dirty="0"/>
              <a:t>— Survey of optical flow techniques, challenges, recent innovations. Good for understanding what methods are available, strengths/weaknesses. </a:t>
            </a:r>
            <a:r>
              <a:rPr lang="en-US" dirty="0">
                <a:hlinkClick r:id="rId10"/>
              </a:rPr>
              <a:t>ScienceDirect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i="1" dirty="0"/>
              <a:t>Adaptive river flow measurement method based on spatiotemporal image velocimetry (STIV) and optical flow</a:t>
            </a:r>
            <a:r>
              <a:rPr lang="en-US" dirty="0"/>
              <a:t>. (2023). </a:t>
            </a:r>
            <a:r>
              <a:rPr lang="en-US" dirty="0">
                <a:hlinkClick r:id="rId11"/>
              </a:rPr>
              <a:t>iwaponline.com</a:t>
            </a:r>
            <a:br>
              <a:rPr lang="en-US" dirty="0"/>
            </a:br>
            <a:r>
              <a:rPr lang="en-US" dirty="0"/>
              <a:t>— Application in hydrology: combines spatiotemporal image velocimetry with optical flow to handle real-environment conditions for measuring surface flow. </a:t>
            </a:r>
            <a:r>
              <a:rPr lang="en-US" dirty="0">
                <a:hlinkClick r:id="rId11"/>
              </a:rPr>
              <a:t>iwaponline.com</a:t>
            </a:r>
            <a:endParaRPr lang="en-US" dirty="0"/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US" dirty="0"/>
              <a:t>If you tell me whether your work is more </a:t>
            </a:r>
            <a:r>
              <a:rPr lang="en-US" b="1" dirty="0"/>
              <a:t>fluid mechanics / experimental physics</a:t>
            </a:r>
            <a:r>
              <a:rPr lang="en-US" dirty="0"/>
              <a:t> or more </a:t>
            </a:r>
            <a:r>
              <a:rPr lang="en-US" b="1" dirty="0"/>
              <a:t>robotics / computer vision</a:t>
            </a:r>
            <a:r>
              <a:rPr lang="en-US" dirty="0"/>
              <a:t>, I can pull together a more targeted list (or format these into APA/IEEE/MLA).</a:t>
            </a:r>
          </a:p>
          <a:p>
            <a:pPr>
              <a:buNone/>
            </a:pPr>
            <a:r>
              <a:rPr lang="en-US" b="1" dirty="0"/>
              <a:t>You said:</a:t>
            </a:r>
          </a:p>
          <a:p>
            <a:pPr>
              <a:buNone/>
            </a:pPr>
            <a:r>
              <a:rPr lang="en-US" dirty="0"/>
              <a:t>my work is more robotics and computer vision</a:t>
            </a:r>
          </a:p>
          <a:p>
            <a:pPr>
              <a:buNone/>
            </a:pPr>
            <a:r>
              <a:rPr lang="en-US" b="1" dirty="0"/>
              <a:t>ChatGPT said:</a:t>
            </a:r>
          </a:p>
          <a:p>
            <a:pPr>
              <a:buNone/>
            </a:pPr>
            <a:r>
              <a:rPr lang="en-US" dirty="0"/>
              <a:t>Perfect — in </a:t>
            </a:r>
            <a:r>
              <a:rPr lang="en-US" b="1" dirty="0"/>
              <a:t>robotics and computer vision</a:t>
            </a:r>
            <a:r>
              <a:rPr lang="en-US" dirty="0"/>
              <a:t>, visual velocimetry overlaps strongly with </a:t>
            </a:r>
            <a:r>
              <a:rPr lang="en-US" b="1" dirty="0"/>
              <a:t>optical flow</a:t>
            </a:r>
            <a:r>
              <a:rPr lang="en-US" dirty="0"/>
              <a:t>, </a:t>
            </a:r>
            <a:r>
              <a:rPr lang="en-US" b="1" dirty="0"/>
              <a:t>event-based vision</a:t>
            </a:r>
            <a:r>
              <a:rPr lang="en-US" dirty="0"/>
              <a:t>, and </a:t>
            </a:r>
            <a:r>
              <a:rPr lang="en-US" b="1" dirty="0"/>
              <a:t>learning-based PIV</a:t>
            </a:r>
            <a:r>
              <a:rPr lang="en-US" dirty="0"/>
              <a:t>. Here’s a curated list of </a:t>
            </a:r>
            <a:r>
              <a:rPr lang="en-US" b="1" dirty="0"/>
              <a:t>references most relevant for robotics &amp; CV applications</a:t>
            </a:r>
            <a:r>
              <a:rPr lang="en-US" dirty="0"/>
              <a:t>, rather than fluid mechanics.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US" b="1" dirty="0"/>
              <a:t>📌 Core References for Robotics &amp; Computer Vision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Horn, B. K. P., &amp; Schunck, B. G. (1981).</a:t>
            </a:r>
            <a:r>
              <a:rPr lang="en-US" dirty="0"/>
              <a:t> Determining optical flow. </a:t>
            </a:r>
            <a:r>
              <a:rPr lang="en-US" i="1" dirty="0"/>
              <a:t>Artificial Intelligence, 17</a:t>
            </a:r>
            <a:r>
              <a:rPr lang="en-US" dirty="0"/>
              <a:t>(1–3), 185–203.</a:t>
            </a:r>
            <a:br>
              <a:rPr lang="en-US" dirty="0"/>
            </a:br>
            <a:r>
              <a:rPr lang="en-US" dirty="0"/>
              <a:t>— The classical variational optical flow method; foundation for many later approaches.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Lucas, B. D., &amp; Kanade, T. (1981).</a:t>
            </a:r>
            <a:r>
              <a:rPr lang="en-US" dirty="0"/>
              <a:t> An iterative image registration technique with an application to stereo vision. </a:t>
            </a:r>
            <a:r>
              <a:rPr lang="en-US" i="1" dirty="0"/>
              <a:t>Proceedings of Imaging Understanding Workshop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— Lucas–Kanade tracker, a cornerstone for sparse optical flow in robotics.</a:t>
            </a:r>
          </a:p>
          <a:p>
            <a:pPr>
              <a:buFont typeface="+mj-lt"/>
              <a:buAutoNum type="arabicPeriod"/>
            </a:pPr>
            <a:r>
              <a:rPr lang="en-US" b="1" dirty="0" err="1"/>
              <a:t>Farnebäck</a:t>
            </a:r>
            <a:r>
              <a:rPr lang="en-US" b="1" dirty="0"/>
              <a:t>, G. (2003).</a:t>
            </a:r>
            <a:r>
              <a:rPr lang="en-US" dirty="0"/>
              <a:t> Two-frame motion estimation based on polynomial expansion. </a:t>
            </a:r>
            <a:r>
              <a:rPr lang="en-US" i="1" dirty="0"/>
              <a:t>Proceedings of the 13th Scandinavian Conference on Image Analysis (SCIA)</a:t>
            </a:r>
            <a:r>
              <a:rPr lang="en-US" dirty="0"/>
              <a:t>, 363–370.</a:t>
            </a:r>
            <a:br>
              <a:rPr lang="en-US" dirty="0"/>
            </a:br>
            <a:r>
              <a:rPr lang="en-US" dirty="0"/>
              <a:t>— Dense optical flow widely used in robotics (implemented in OpenCV).</a:t>
            </a:r>
          </a:p>
          <a:p>
            <a:pPr>
              <a:buFont typeface="+mj-lt"/>
              <a:buAutoNum type="arabicPeriod"/>
            </a:pPr>
            <a:r>
              <a:rPr lang="en-US" b="1" dirty="0" err="1"/>
              <a:t>Dosovitskiy</a:t>
            </a:r>
            <a:r>
              <a:rPr lang="en-US" b="1" dirty="0"/>
              <a:t>, A., Fischer, P., Ilg, E., et al. (2015).</a:t>
            </a:r>
            <a:r>
              <a:rPr lang="en-US" dirty="0"/>
              <a:t> </a:t>
            </a:r>
            <a:r>
              <a:rPr lang="en-US" dirty="0" err="1"/>
              <a:t>FlowNet</a:t>
            </a:r>
            <a:r>
              <a:rPr lang="en-US" dirty="0"/>
              <a:t>: Learning optical flow with convolutional networks. </a:t>
            </a:r>
            <a:r>
              <a:rPr lang="en-US" i="1" dirty="0"/>
              <a:t>Proceedings of the IEEE International Conference on Computer Vision (ICCV)</a:t>
            </a:r>
            <a:r>
              <a:rPr lang="en-US" dirty="0"/>
              <a:t>, 2758–2766.</a:t>
            </a:r>
            <a:br>
              <a:rPr lang="en-US" dirty="0"/>
            </a:br>
            <a:r>
              <a:rPr lang="en-US" dirty="0"/>
              <a:t>— First deep CNN to directly estimate dense optical flow.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Ilg, E., Mayer, N., Saikia, T., et al. (2017).</a:t>
            </a:r>
            <a:r>
              <a:rPr lang="en-US" dirty="0"/>
              <a:t> </a:t>
            </a:r>
            <a:r>
              <a:rPr lang="en-US" dirty="0" err="1"/>
              <a:t>FlowNet</a:t>
            </a:r>
            <a:r>
              <a:rPr lang="en-US" dirty="0"/>
              <a:t> 2.0: Evolution of optical flow estimation with deep networks. </a:t>
            </a:r>
            <a:r>
              <a:rPr lang="en-US" i="1" dirty="0"/>
              <a:t>Proceedings of the IEEE Conference on Computer Vision and Pattern Recognition (CVPR)</a:t>
            </a:r>
            <a:r>
              <a:rPr lang="en-US" dirty="0"/>
              <a:t>, 1647–1655.</a:t>
            </a:r>
            <a:br>
              <a:rPr lang="en-US" dirty="0"/>
            </a:br>
            <a:r>
              <a:rPr lang="en-US" dirty="0"/>
              <a:t>— More accurate stacked architecture, benchmark in robotics.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Teed, Z., &amp; Deng, J. (2020).</a:t>
            </a:r>
            <a:r>
              <a:rPr lang="en-US" dirty="0"/>
              <a:t> RAFT: Recurrent all-pairs field transforms for optical flow. </a:t>
            </a:r>
            <a:r>
              <a:rPr lang="en-US" i="1" dirty="0"/>
              <a:t>European Conference on Computer Vision (ECCV)</a:t>
            </a:r>
            <a:r>
              <a:rPr lang="en-US" dirty="0"/>
              <a:t>, 402–419.</a:t>
            </a:r>
            <a:br>
              <a:rPr lang="en-US" dirty="0"/>
            </a:br>
            <a:r>
              <a:rPr lang="en-US" dirty="0"/>
              <a:t>— A state-of-the-art network for dense flow; widely adopted in robotic perception.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Gallego, G., Delbrück, T., Orchard, G., et al. (2020).</a:t>
            </a:r>
            <a:r>
              <a:rPr lang="en-US" dirty="0"/>
              <a:t> Event-based vision: A survey. </a:t>
            </a:r>
            <a:r>
              <a:rPr lang="en-US" i="1" dirty="0"/>
              <a:t>IEEE Transactions on Pattern Analysis and Machine Intelligence, 44</a:t>
            </a:r>
            <a:r>
              <a:rPr lang="en-US" dirty="0"/>
              <a:t>(1), 154–180.</a:t>
            </a:r>
            <a:br>
              <a:rPr lang="en-US" dirty="0"/>
            </a:br>
            <a:r>
              <a:rPr lang="en-US" dirty="0"/>
              <a:t>— Comprehensive review of event cameras and their use for high-speed visual flow/velocity estimation.</a:t>
            </a:r>
          </a:p>
          <a:p>
            <a:pPr>
              <a:buFont typeface="+mj-lt"/>
              <a:buAutoNum type="arabicPeriod"/>
            </a:pPr>
            <a:r>
              <a:rPr lang="en-US" b="1" dirty="0" err="1"/>
              <a:t>Rebecq</a:t>
            </a:r>
            <a:r>
              <a:rPr lang="en-US" b="1" dirty="0"/>
              <a:t>, H., Gehrig, D., &amp; </a:t>
            </a:r>
            <a:r>
              <a:rPr lang="en-US" b="1" dirty="0" err="1"/>
              <a:t>Scaramuzza</a:t>
            </a:r>
            <a:r>
              <a:rPr lang="en-US" b="1" dirty="0"/>
              <a:t>, D. (2019).</a:t>
            </a:r>
            <a:r>
              <a:rPr lang="en-US" dirty="0"/>
              <a:t> ESIM: An open event camera simulator. </a:t>
            </a:r>
            <a:r>
              <a:rPr lang="en-US" i="1" dirty="0"/>
              <a:t>Conference on Robotics and Automation (ICRA)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— Enables training/testing of visual velocimetry algorithms on synthetic event data.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Willert, C., &amp; Klinner, J. (2022).</a:t>
            </a:r>
            <a:r>
              <a:rPr lang="en-US" dirty="0"/>
              <a:t> Event-based imaging velocimetry. </a:t>
            </a:r>
            <a:r>
              <a:rPr lang="en-US" i="1" dirty="0"/>
              <a:t>arXiv:2202.11178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— Adapts event cameras specifically for visual velocimetry tasks, suitable for robotics.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Masker, A. I., Zhou, K., Molnar, J. P., &amp; Grauer, S. J. (2024).</a:t>
            </a:r>
            <a:r>
              <a:rPr lang="en-US" dirty="0"/>
              <a:t> Neural optical flow for planar and stereo PIV. </a:t>
            </a:r>
            <a:r>
              <a:rPr lang="en-US" i="1" dirty="0"/>
              <a:t>arXiv:2411.02373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— Bridges particle image velocimetry with neural optical flow, extending applicability to robotics perception scenarios.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US" b="1" dirty="0"/>
              <a:t>📌 Why these matter for robotics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Horn–Schunck / Lucas–Kanade / </a:t>
            </a:r>
            <a:r>
              <a:rPr lang="en-US" b="1" dirty="0" err="1"/>
              <a:t>Farnebäck</a:t>
            </a:r>
            <a:r>
              <a:rPr lang="en-US" dirty="0"/>
              <a:t> → Classic algorithms still used in embedded vision (e.g., drones, autonomous robots).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FlowNet</a:t>
            </a:r>
            <a:r>
              <a:rPr lang="en-US" b="1" dirty="0"/>
              <a:t> / FlowNet2 / RAFT</a:t>
            </a:r>
            <a:r>
              <a:rPr lang="en-US" dirty="0"/>
              <a:t> → Deep learning breakthroughs enabling robust, dense, and generalizable velocity estimation.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Event-based vision works</a:t>
            </a:r>
            <a:r>
              <a:rPr lang="en-US" dirty="0"/>
              <a:t> → Critical for robotics in high-speed, high-dynamic-range environments where standard cameras fail.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Neural PIV &amp; hybrid methods</a:t>
            </a:r>
            <a:r>
              <a:rPr lang="en-US" dirty="0"/>
              <a:t> → Emerging frontier where robotics overlaps with experimental flow measurement.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>
          <a:extLst>
            <a:ext uri="{FF2B5EF4-FFF2-40B4-BE49-F238E27FC236}">
              <a16:creationId xmlns:a16="http://schemas.microsoft.com/office/drawing/2014/main" id="{55E7C942-46DA-6896-5275-05A6F8C40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>
            <a:extLst>
              <a:ext uri="{FF2B5EF4-FFF2-40B4-BE49-F238E27FC236}">
                <a16:creationId xmlns:a16="http://schemas.microsoft.com/office/drawing/2014/main" id="{39E6F45D-A0C2-2621-A6E1-60B4585BC3F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References 1-6: Velocimetry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8AD2CD-137F-9ECD-B978-16161E97C4D3}"/>
              </a:ext>
            </a:extLst>
          </p:cNvPr>
          <p:cNvSpPr txBox="1"/>
          <p:nvPr/>
        </p:nvSpPr>
        <p:spPr>
          <a:xfrm>
            <a:off x="463550" y="1633538"/>
            <a:ext cx="822325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[1] P. Viola and M. Jones, "Rapid object detection using a boosted cascade of simple features," in </a:t>
            </a:r>
            <a:r>
              <a:rPr lang="en-US" i="1" dirty="0"/>
              <a:t>Proc. IEEE Conf. </a:t>
            </a:r>
            <a:r>
              <a:rPr lang="en-US" i="1" dirty="0" err="1"/>
              <a:t>Comput</a:t>
            </a:r>
            <a:r>
              <a:rPr lang="en-US" i="1" dirty="0"/>
              <a:t>. Vis. Pattern </a:t>
            </a:r>
            <a:r>
              <a:rPr lang="en-US" i="1" dirty="0" err="1"/>
              <a:t>Recognit</a:t>
            </a:r>
            <a:r>
              <a:rPr lang="en-US" i="1" dirty="0"/>
              <a:t>. (CVPR)</a:t>
            </a:r>
            <a:r>
              <a:rPr lang="en-US" dirty="0"/>
              <a:t>, 2001, pp. I–I.</a:t>
            </a:r>
            <a:br>
              <a:rPr lang="en-US" dirty="0"/>
            </a:br>
            <a:r>
              <a:rPr lang="en-US" dirty="0"/>
              <a:t>[2] N. Dalal and B. Triggs, "Histograms of oriented gradients for human detection," in </a:t>
            </a:r>
            <a:r>
              <a:rPr lang="en-US" i="1" dirty="0"/>
              <a:t>Proc. IEEE Conf. </a:t>
            </a:r>
            <a:r>
              <a:rPr lang="en-US" i="1" dirty="0" err="1"/>
              <a:t>Comput</a:t>
            </a:r>
            <a:r>
              <a:rPr lang="en-US" i="1" dirty="0"/>
              <a:t>. Vis. Pattern </a:t>
            </a:r>
            <a:r>
              <a:rPr lang="en-US" i="1" dirty="0" err="1"/>
              <a:t>Recognit</a:t>
            </a:r>
            <a:r>
              <a:rPr lang="en-US" i="1" dirty="0"/>
              <a:t>. (CVPR)</a:t>
            </a:r>
            <a:r>
              <a:rPr lang="en-US" dirty="0"/>
              <a:t>, vol. 1, 2005, pp. 886–893.</a:t>
            </a:r>
            <a:br>
              <a:rPr lang="en-US" dirty="0"/>
            </a:br>
            <a:r>
              <a:rPr lang="en-US" dirty="0"/>
              <a:t>[3] P. F. </a:t>
            </a:r>
            <a:r>
              <a:rPr lang="en-US" dirty="0" err="1"/>
              <a:t>Felzenszwalb</a:t>
            </a:r>
            <a:r>
              <a:rPr lang="en-US" dirty="0"/>
              <a:t>, R. B. </a:t>
            </a:r>
            <a:r>
              <a:rPr lang="en-US" dirty="0" err="1"/>
              <a:t>Girshick</a:t>
            </a:r>
            <a:r>
              <a:rPr lang="en-US" dirty="0"/>
              <a:t>, D. McAllester, and D. Ramanan, "Object detection with discriminatively trained part-based models," </a:t>
            </a:r>
            <a:r>
              <a:rPr lang="en-US" i="1" dirty="0"/>
              <a:t>IEEE Trans. Pattern Anal. Mach. </a:t>
            </a:r>
            <a:r>
              <a:rPr lang="en-US" i="1" dirty="0" err="1"/>
              <a:t>Intell</a:t>
            </a:r>
            <a:r>
              <a:rPr lang="en-US" i="1" dirty="0"/>
              <a:t>.</a:t>
            </a:r>
            <a:r>
              <a:rPr lang="en-US" dirty="0"/>
              <a:t>, vol. 32, no. 9, pp. 1627–1645, 2010.</a:t>
            </a:r>
            <a:br>
              <a:rPr lang="en-US" dirty="0"/>
            </a:br>
            <a:r>
              <a:rPr lang="en-US" dirty="0"/>
              <a:t>[4] A. </a:t>
            </a:r>
            <a:r>
              <a:rPr lang="en-US" dirty="0" err="1"/>
              <a:t>Krizhevsky</a:t>
            </a:r>
            <a:r>
              <a:rPr lang="en-US" dirty="0"/>
              <a:t>, I. </a:t>
            </a:r>
            <a:r>
              <a:rPr lang="en-US" dirty="0" err="1"/>
              <a:t>Sutskever</a:t>
            </a:r>
            <a:r>
              <a:rPr lang="en-US" dirty="0"/>
              <a:t>, and G. E. Hinton, "ImageNet classification with deep convolutional neural networks," in </a:t>
            </a:r>
            <a:r>
              <a:rPr lang="en-US" i="1" dirty="0"/>
              <a:t>Adv. Neural Inf. Process. Syst.</a:t>
            </a:r>
            <a:r>
              <a:rPr lang="en-US" dirty="0"/>
              <a:t>, vol. 25, 2012.</a:t>
            </a:r>
            <a:br>
              <a:rPr lang="en-US" dirty="0"/>
            </a:br>
            <a:r>
              <a:rPr lang="en-US" dirty="0"/>
              <a:t>[5] R. </a:t>
            </a:r>
            <a:r>
              <a:rPr lang="en-US" dirty="0" err="1"/>
              <a:t>Girshick</a:t>
            </a:r>
            <a:r>
              <a:rPr lang="en-US" dirty="0"/>
              <a:t>, J. Donahue, T. Darrell, and J. Malik, "Rich feature hierarchies for accurate object detection and semantic segmentation," in </a:t>
            </a:r>
            <a:r>
              <a:rPr lang="en-US" i="1" dirty="0"/>
              <a:t>Proc. IEEE Conf. </a:t>
            </a:r>
            <a:r>
              <a:rPr lang="en-US" i="1" dirty="0" err="1"/>
              <a:t>Comput</a:t>
            </a:r>
            <a:r>
              <a:rPr lang="en-US" i="1" dirty="0"/>
              <a:t>. Vis. Pattern </a:t>
            </a:r>
            <a:r>
              <a:rPr lang="en-US" i="1" dirty="0" err="1"/>
              <a:t>Recognit</a:t>
            </a:r>
            <a:r>
              <a:rPr lang="en-US" i="1" dirty="0"/>
              <a:t>. (CVPR)</a:t>
            </a:r>
            <a:r>
              <a:rPr lang="en-US" dirty="0"/>
              <a:t>, 2014, pp. 580–587.</a:t>
            </a:r>
            <a:br>
              <a:rPr lang="en-US" dirty="0"/>
            </a:br>
            <a:r>
              <a:rPr lang="en-US" dirty="0"/>
              <a:t>[6] R. </a:t>
            </a:r>
            <a:r>
              <a:rPr lang="en-US" dirty="0" err="1"/>
              <a:t>Girshick</a:t>
            </a:r>
            <a:r>
              <a:rPr lang="en-US" dirty="0"/>
              <a:t>, "Fast R-CNN," in </a:t>
            </a:r>
            <a:r>
              <a:rPr lang="en-US" i="1" dirty="0"/>
              <a:t>Proc. IEEE Int. Conf. </a:t>
            </a:r>
            <a:r>
              <a:rPr lang="en-US" i="1" dirty="0" err="1"/>
              <a:t>Comput</a:t>
            </a:r>
            <a:r>
              <a:rPr lang="en-US" i="1" dirty="0"/>
              <a:t>. Vis. (ICCV)</a:t>
            </a:r>
            <a:r>
              <a:rPr lang="en-US" dirty="0"/>
              <a:t>, 2015, pp. 1440–1448.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3504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>
          <a:extLst>
            <a:ext uri="{FF2B5EF4-FFF2-40B4-BE49-F238E27FC236}">
              <a16:creationId xmlns:a16="http://schemas.microsoft.com/office/drawing/2014/main" id="{0A1BBDA7-4AE2-206D-0625-F24DEBB57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>
            <a:extLst>
              <a:ext uri="{FF2B5EF4-FFF2-40B4-BE49-F238E27FC236}">
                <a16:creationId xmlns:a16="http://schemas.microsoft.com/office/drawing/2014/main" id="{62632683-49A9-DDF7-CE16-3FE4154E7D9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References 7-10: Velocimetry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04CC2C-DF08-829A-BA0E-4D60955C0848}"/>
              </a:ext>
            </a:extLst>
          </p:cNvPr>
          <p:cNvSpPr txBox="1"/>
          <p:nvPr/>
        </p:nvSpPr>
        <p:spPr>
          <a:xfrm>
            <a:off x="463550" y="1888511"/>
            <a:ext cx="822324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[7] G. Gallego, T. Delbrück, G. Orchard, et al., "Event-based vision: A survey," </a:t>
            </a:r>
            <a:r>
              <a:rPr lang="en-US" i="1" dirty="0"/>
              <a:t>IEEE Trans. Pattern Anal. Mach. </a:t>
            </a:r>
            <a:r>
              <a:rPr lang="en-US" i="1" dirty="0" err="1"/>
              <a:t>Intell</a:t>
            </a:r>
            <a:r>
              <a:rPr lang="en-US" i="1" dirty="0"/>
              <a:t>.</a:t>
            </a:r>
            <a:r>
              <a:rPr lang="en-US" dirty="0"/>
              <a:t>, vol. 44, no. 1, pp. 154–180, 2020.</a:t>
            </a:r>
          </a:p>
          <a:p>
            <a:pPr>
              <a:buNone/>
            </a:pPr>
            <a:r>
              <a:rPr lang="en-US" dirty="0"/>
              <a:t>[8] H. </a:t>
            </a:r>
            <a:r>
              <a:rPr lang="en-US" dirty="0" err="1"/>
              <a:t>Rebecq</a:t>
            </a:r>
            <a:r>
              <a:rPr lang="en-US" dirty="0"/>
              <a:t>, D. Gehrig, and D. </a:t>
            </a:r>
            <a:r>
              <a:rPr lang="en-US" dirty="0" err="1"/>
              <a:t>Scaramuzza</a:t>
            </a:r>
            <a:r>
              <a:rPr lang="en-US" dirty="0"/>
              <a:t>, "ESIM: An open event camera simulator," in </a:t>
            </a:r>
            <a:r>
              <a:rPr lang="en-US" i="1" dirty="0"/>
              <a:t>Proc. IEEE Int. Conf. Robot. Autom. (ICRA)</a:t>
            </a:r>
            <a:r>
              <a:rPr lang="en-US" dirty="0"/>
              <a:t>, 2019.</a:t>
            </a:r>
          </a:p>
          <a:p>
            <a:pPr>
              <a:buNone/>
            </a:pPr>
            <a:r>
              <a:rPr lang="en-US" dirty="0"/>
              <a:t>[9] C. Willert and J. Klinner, "Event-based imaging velocimetry—An assessment of event-based cameras for the measurement of fluid flows," </a:t>
            </a:r>
            <a:r>
              <a:rPr lang="en-US" i="1" dirty="0" err="1"/>
              <a:t>arXiv</a:t>
            </a:r>
            <a:r>
              <a:rPr lang="en-US" i="1" dirty="0"/>
              <a:t> preprint arXiv:2202.11178</a:t>
            </a:r>
            <a:r>
              <a:rPr lang="en-US" dirty="0"/>
              <a:t>, 2022.</a:t>
            </a:r>
          </a:p>
          <a:p>
            <a:pPr>
              <a:buNone/>
            </a:pPr>
            <a:r>
              <a:rPr lang="en-US" dirty="0"/>
              <a:t>[10] A. I. Masker, K. Zhou, J. P. Molnar, and S. J. Grauer, "Neural optical flow for planar and stereo PIV," </a:t>
            </a:r>
            <a:r>
              <a:rPr lang="en-US" i="1" dirty="0" err="1"/>
              <a:t>arXiv</a:t>
            </a:r>
            <a:r>
              <a:rPr lang="en-US" i="1" dirty="0"/>
              <a:t> preprint arXiv:2411.02373</a:t>
            </a:r>
            <a:r>
              <a:rPr lang="en-US" dirty="0"/>
              <a:t>, 2024.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881388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11326</TotalTime>
  <Words>1727</Words>
  <Application>Microsoft Office PowerPoint</Application>
  <PresentationFormat>On-screen Show (16:9)</PresentationFormat>
  <Paragraphs>66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Simple Light</vt:lpstr>
      <vt:lpstr>Pose Detection</vt:lpstr>
      <vt:lpstr>TLDR</vt:lpstr>
      <vt:lpstr>Detection-01</vt:lpstr>
      <vt:lpstr>Detection-01</vt:lpstr>
      <vt:lpstr>Detection-01</vt:lpstr>
      <vt:lpstr>Detection-01</vt:lpstr>
      <vt:lpstr>Detection-01</vt:lpstr>
      <vt:lpstr>Detection-01</vt:lpstr>
      <vt:lpstr>Detection-01</vt:lpstr>
      <vt:lpstr>Detection-01</vt:lpstr>
      <vt:lpstr>Detection-01</vt:lpstr>
      <vt:lpstr>Detection-01</vt:lpstr>
      <vt:lpstr>Detection-01</vt:lpstr>
      <vt:lpstr>Detection-01</vt:lpstr>
      <vt:lpstr>Detection-01</vt:lpstr>
      <vt:lpstr>Detection-01</vt:lpstr>
      <vt:lpstr>Detection-01</vt:lpstr>
      <vt:lpstr>References 1-6: Detection</vt:lpstr>
      <vt:lpstr>References 1-6: Velocimetry</vt:lpstr>
      <vt:lpstr>References 7-10: Velocimetry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Carl S Smyth</dc:creator>
  <cp:lastModifiedBy>Steve Smyth</cp:lastModifiedBy>
  <cp:revision>4</cp:revision>
  <dcterms:modified xsi:type="dcterms:W3CDTF">2025-09-24T20:07:46Z</dcterms:modified>
</cp:coreProperties>
</file>